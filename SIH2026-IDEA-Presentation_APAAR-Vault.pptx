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youtu.be/rEz9BszbQnQ?si=c1oF4zL5QWqgU2EB" TargetMode="External"/><Relationship Id="rId3" Type="http://schemas.openxmlformats.org/officeDocument/2006/relationships/hyperlink" Target="https://github.com/SDP-001/SIH.git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youtu.be/rEz9BszbQnQ?si=c1oF4zL5QWqgU2EB" TargetMode="External"/><Relationship Id="rId4" Type="http://schemas.openxmlformats.org/officeDocument/2006/relationships/hyperlink" Target="https://github.com/SDP-001/SIH.git" TargetMode="External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youtu.be/rEz9BszbQnQ?si=c1oF4zL5QWqgU2EB" TargetMode="External"/><Relationship Id="rId4" Type="http://schemas.openxmlformats.org/officeDocument/2006/relationships/hyperlink" Target="https://github.com/SDP-001/SIH.git" TargetMode="External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youtu.be/rEz9BszbQnQ?si=c1oF4zL5QWqgU2EB" TargetMode="External"/><Relationship Id="rId4" Type="http://schemas.openxmlformats.org/officeDocument/2006/relationships/hyperlink" Target="https://github.com/SDP-001/SIH.gi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0" y="300000"/>
            <a:ext cx="9192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102A4D"/>
                </a:solidFill>
                <a:latin typeface="Calibri"/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0000" y="1050000"/>
            <a:ext cx="9192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600">
                <a:solidFill>
                  <a:srgbClr val="A93226"/>
                </a:solidFill>
                <a:latin typeface="Georgia"/>
              </a:defRPr>
            </a:pPr>
            <a:r>
              <a:t>Team – Byte codx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800000"/>
            <a:ext cx="72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50">
                <a:solidFill>
                  <a:srgbClr val="102A4D"/>
                </a:solidFill>
                <a:latin typeface="Calibri"/>
              </a:rPr>
              <a:t>• Problem Statement ID: </a:t>
            </a:r>
            <a:r>
              <a:rPr sz="1300">
                <a:solidFill>
                  <a:srgbClr val="212529"/>
                </a:solidFill>
                <a:latin typeface="Calibri"/>
              </a:rPr>
              <a:t>26263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102A4D"/>
                </a:solidFill>
                <a:latin typeface="Calibri"/>
              </a:rPr>
              <a:t>• Problem Statement Title: </a:t>
            </a:r>
            <a:r>
              <a:rPr sz="1300">
                <a:solidFill>
                  <a:srgbClr val="212529"/>
                </a:solidFill>
                <a:latin typeface="Calibri"/>
              </a:rPr>
              <a:t>Development of an APAAR ID-Based Student Data Management and Verification Platform for AICTE-Approved Institutions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102A4D"/>
                </a:solidFill>
                <a:latin typeface="Calibri"/>
              </a:rPr>
              <a:t>• Theme: </a:t>
            </a:r>
            <a:r>
              <a:rPr sz="1300">
                <a:solidFill>
                  <a:srgbClr val="212529"/>
                </a:solidFill>
                <a:latin typeface="Calibri"/>
              </a:rPr>
              <a:t>Smart Automation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102A4D"/>
                </a:solidFill>
                <a:latin typeface="Calibri"/>
              </a:rPr>
              <a:t>• PS Category- Software/Hardware: </a:t>
            </a:r>
            <a:r>
              <a:rPr sz="1300">
                <a:solidFill>
                  <a:srgbClr val="212529"/>
                </a:solidFill>
                <a:latin typeface="Calibri"/>
              </a:rPr>
              <a:t>Software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102A4D"/>
                </a:solidFill>
                <a:latin typeface="Calibri"/>
              </a:rPr>
              <a:t>• Team ID: </a:t>
            </a:r>
            <a:r>
              <a:rPr sz="1300">
                <a:solidFill>
                  <a:srgbClr val="212529"/>
                </a:solidFill>
                <a:latin typeface="Calibri"/>
              </a:rPr>
              <a:t>199199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102A4D"/>
                </a:solidFill>
                <a:latin typeface="Calibri"/>
              </a:rPr>
              <a:t>• Team Name: </a:t>
            </a:r>
            <a:r>
              <a:rPr sz="1300">
                <a:solidFill>
                  <a:srgbClr val="212529"/>
                </a:solidFill>
                <a:latin typeface="Calibri"/>
              </a:rPr>
              <a:t>Byte codx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00" y="5200000"/>
            <a:ext cx="6800000" cy="1150000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b="1" sz="1100">
                <a:solidFill>
                  <a:srgbClr val="A93226"/>
                </a:solidFill>
                <a:latin typeface="Calibri"/>
              </a:rPr>
              <a:t>▶ Prototype Video: </a:t>
            </a:r>
            <a:r>
              <a:rPr b="1" sz="1100" u="sng">
                <a:solidFill>
                  <a:srgbClr val="0066CC"/>
                </a:solidFill>
                <a:latin typeface="Calibri"/>
                <a:hlinkClick r:id="rId2"/>
              </a:rPr>
              <a:t>https://youtu.be/rEz9BszbQnQ?si=c1oF4zL5QWqgU2EB</a:t>
            </a:r>
          </a:p>
          <a:p>
            <a:r>
              <a:rPr b="1" sz="1100">
                <a:solidFill>
                  <a:srgbClr val="102A4D"/>
                </a:solidFill>
                <a:latin typeface="Calibri"/>
              </a:rPr>
              <a:t>▶ GitHub Repository: </a:t>
            </a:r>
            <a:r>
              <a:rPr b="1" sz="1100" u="sng">
                <a:solidFill>
                  <a:srgbClr val="0066CC"/>
                </a:solidFill>
                <a:latin typeface="Calibri"/>
                <a:hlinkClick r:id="rId3"/>
              </a:rPr>
              <a:t>https://github.com/SDP-001/SIH.git</a:t>
            </a:r>
          </a:p>
        </p:txBody>
      </p:sp>
      <p:pic>
        <p:nvPicPr>
          <p:cNvPr id="7" name="Picture 6" descr="sih_bulb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000" y="1750000"/>
            <a:ext cx="3700000" cy="15862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0" y="5700000"/>
            <a:ext cx="23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i="1" sz="3000">
                <a:solidFill>
                  <a:srgbClr val="A93226"/>
                </a:solidFill>
                <a:latin typeface="Georgia"/>
              </a:defRPr>
            </a:pPr>
            <a:r>
              <a:t>Byte codx</a:t>
            </a:r>
          </a:p>
        </p:txBody>
      </p:sp>
      <p:pic>
        <p:nvPicPr>
          <p:cNvPr id="9" name="Picture 8" descr="sih_header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0000" y="150000"/>
            <a:ext cx="1900000" cy="9657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0000"/>
            <a:ext cx="25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i="1" b="1" sz="2400">
                <a:solidFill>
                  <a:srgbClr val="A93226"/>
                </a:solidFill>
                <a:latin typeface="Georgia"/>
              </a:defRPr>
            </a:pPr>
            <a:r>
              <a:t>Byte codx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00000" y="140000"/>
            <a:ext cx="6600000" cy="6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400">
                <a:solidFill>
                  <a:srgbClr val="102A4D"/>
                </a:solidFill>
                <a:latin typeface="Calibri"/>
              </a:defRPr>
            </a:pPr>
            <a:r>
              <a:t>APAAR-Vault: Student Data Management &amp; Verification Platform</a:t>
            </a:r>
          </a:p>
        </p:txBody>
      </p:sp>
      <p:pic>
        <p:nvPicPr>
          <p:cNvPr id="5" name="Picture 4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0000" y="80000"/>
            <a:ext cx="1900000" cy="96574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20000"/>
            <a:ext cx="12192000" cy="438000"/>
          </a:xfrm>
          <a:prstGeom prst="rect">
            <a:avLst/>
          </a:prstGeom>
          <a:solidFill>
            <a:srgbClr val="10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0000" y="6440000"/>
            <a:ext cx="34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0000" y="6440000"/>
            <a:ext cx="6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4396000" y="1150000"/>
            <a:ext cx="3400000" cy="4900000"/>
          </a:xfrm>
          <a:prstGeom prst="ellipse">
            <a:avLst/>
          </a:prstGeom>
          <a:solidFill>
            <a:srgbClr val="FFF8F0"/>
          </a:solidFill>
          <a:ln w="317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102A4D"/>
                </a:solidFill>
                <a:latin typeface="Calibri"/>
              </a:defRPr>
            </a:pPr>
            <a:r>
              <a:t>A smart and unique centralized platform to automate student data management, 10-point validation, multi-institution duplicate detection, and intake compliance monitoring for AICTE.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0000" y="120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Institutional Bulk Data Upload</a:t>
            </a:r>
          </a:p>
        </p:txBody>
      </p:sp>
      <p:sp>
        <p:nvSpPr>
          <p:cNvPr id="11" name="Oval 10"/>
          <p:cNvSpPr/>
          <p:nvPr/>
        </p:nvSpPr>
        <p:spPr>
          <a:xfrm>
            <a:off x="4090000" y="141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0000" y="191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Automated Format &amp; Schema Checks</a:t>
            </a:r>
          </a:p>
        </p:txBody>
      </p:sp>
      <p:sp>
        <p:nvSpPr>
          <p:cNvPr id="13" name="Oval 12"/>
          <p:cNvSpPr/>
          <p:nvPr/>
        </p:nvSpPr>
        <p:spPr>
          <a:xfrm>
            <a:off x="4090000" y="212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0000" y="262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10-Point Validation Rule Engine</a:t>
            </a:r>
          </a:p>
        </p:txBody>
      </p:sp>
      <p:sp>
        <p:nvSpPr>
          <p:cNvPr id="15" name="Oval 14"/>
          <p:cNvSpPr/>
          <p:nvPr/>
        </p:nvSpPr>
        <p:spPr>
          <a:xfrm>
            <a:off x="4090000" y="283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0000" y="333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Approved Intake Monitoring</a:t>
            </a:r>
          </a:p>
        </p:txBody>
      </p:sp>
      <p:sp>
        <p:nvSpPr>
          <p:cNvPr id="17" name="Oval 16"/>
          <p:cNvSpPr/>
          <p:nvPr/>
        </p:nvSpPr>
        <p:spPr>
          <a:xfrm>
            <a:off x="4090000" y="354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0000" y="404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Over-Enrolment Discrepancy Alerts</a:t>
            </a:r>
          </a:p>
        </p:txBody>
      </p:sp>
      <p:sp>
        <p:nvSpPr>
          <p:cNvPr id="19" name="Oval 18"/>
          <p:cNvSpPr/>
          <p:nvPr/>
        </p:nvSpPr>
        <p:spPr>
          <a:xfrm>
            <a:off x="4090000" y="425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0000" y="475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Institutional Correction Workflows</a:t>
            </a:r>
          </a:p>
        </p:txBody>
      </p:sp>
      <p:sp>
        <p:nvSpPr>
          <p:cNvPr id="21" name="Oval 20"/>
          <p:cNvSpPr/>
          <p:nvPr/>
        </p:nvSpPr>
        <p:spPr>
          <a:xfrm>
            <a:off x="4090000" y="496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0000" y="546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Tamper-Evident Audit Trails</a:t>
            </a:r>
          </a:p>
        </p:txBody>
      </p:sp>
      <p:sp>
        <p:nvSpPr>
          <p:cNvPr id="23" name="Oval 22"/>
          <p:cNvSpPr/>
          <p:nvPr/>
        </p:nvSpPr>
        <p:spPr>
          <a:xfrm>
            <a:off x="4090000" y="567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42000" y="120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Verhoeff &amp; Luhn Checksum Checks</a:t>
            </a:r>
          </a:p>
        </p:txBody>
      </p:sp>
      <p:sp>
        <p:nvSpPr>
          <p:cNvPr id="25" name="Oval 24"/>
          <p:cNvSpPr/>
          <p:nvPr/>
        </p:nvSpPr>
        <p:spPr>
          <a:xfrm>
            <a:off x="7942000" y="141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42000" y="191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Cross-Campus Duplicate Detection</a:t>
            </a:r>
          </a:p>
        </p:txBody>
      </p:sp>
      <p:sp>
        <p:nvSpPr>
          <p:cNvPr id="27" name="Oval 26"/>
          <p:cNvSpPr/>
          <p:nvPr/>
        </p:nvSpPr>
        <p:spPr>
          <a:xfrm>
            <a:off x="7942000" y="212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2000" y="262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Zero-Knowledge Public Verification</a:t>
            </a:r>
          </a:p>
        </p:txBody>
      </p:sp>
      <p:sp>
        <p:nvSpPr>
          <p:cNvPr id="29" name="Oval 28"/>
          <p:cNvSpPr/>
          <p:nvPr/>
        </p:nvSpPr>
        <p:spPr>
          <a:xfrm>
            <a:off x="7942000" y="283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42000" y="333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Cryptographic QR Verification</a:t>
            </a:r>
          </a:p>
        </p:txBody>
      </p:sp>
      <p:sp>
        <p:nvSpPr>
          <p:cNvPr id="31" name="Oval 30"/>
          <p:cNvSpPr/>
          <p:nvPr/>
        </p:nvSpPr>
        <p:spPr>
          <a:xfrm>
            <a:off x="7942000" y="354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42000" y="404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Student Self-Service Vault</a:t>
            </a:r>
          </a:p>
        </p:txBody>
      </p:sp>
      <p:sp>
        <p:nvSpPr>
          <p:cNvPr id="33" name="Oval 32"/>
          <p:cNvSpPr/>
          <p:nvPr/>
        </p:nvSpPr>
        <p:spPr>
          <a:xfrm>
            <a:off x="7942000" y="425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042000" y="475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AI Regulatory Officer Assistant</a:t>
            </a:r>
          </a:p>
        </p:txBody>
      </p:sp>
      <p:sp>
        <p:nvSpPr>
          <p:cNvPr id="35" name="Oval 34"/>
          <p:cNvSpPr/>
          <p:nvPr/>
        </p:nvSpPr>
        <p:spPr>
          <a:xfrm>
            <a:off x="7942000" y="496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42000" y="5460000"/>
            <a:ext cx="3600000" cy="5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02A4D"/>
                </a:solidFill>
                <a:latin typeface="Calibri"/>
              </a:defRPr>
            </a:pPr>
            <a:r>
              <a:t>Multi-Tenant RBAC Security</a:t>
            </a:r>
          </a:p>
        </p:txBody>
      </p:sp>
      <p:sp>
        <p:nvSpPr>
          <p:cNvPr id="37" name="Oval 36"/>
          <p:cNvSpPr/>
          <p:nvPr/>
        </p:nvSpPr>
        <p:spPr>
          <a:xfrm>
            <a:off x="7942000" y="5670000"/>
            <a:ext cx="160000" cy="160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0000"/>
            <a:ext cx="25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i="1" b="1" sz="2400">
                <a:solidFill>
                  <a:srgbClr val="A93226"/>
                </a:solidFill>
                <a:latin typeface="Georgia"/>
              </a:defRPr>
            </a:pPr>
            <a:r>
              <a:t>Byte codx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00000" y="140000"/>
            <a:ext cx="6600000" cy="6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400">
                <a:solidFill>
                  <a:srgbClr val="102A4D"/>
                </a:solidFill>
                <a:latin typeface="Calibri"/>
              </a:defRPr>
            </a:pPr>
            <a:r>
              <a:t>TECHNICAL APPROACH</a:t>
            </a:r>
          </a:p>
        </p:txBody>
      </p:sp>
      <p:pic>
        <p:nvPicPr>
          <p:cNvPr id="5" name="Picture 4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0000" y="80000"/>
            <a:ext cx="1900000" cy="96574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20000"/>
            <a:ext cx="12192000" cy="438000"/>
          </a:xfrm>
          <a:prstGeom prst="rect">
            <a:avLst/>
          </a:prstGeom>
          <a:solidFill>
            <a:srgbClr val="10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0000" y="6440000"/>
            <a:ext cx="34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0000" y="6440000"/>
            <a:ext cx="6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0000" y="1150000"/>
            <a:ext cx="5100000" cy="505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93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400" u="sng">
                <a:solidFill>
                  <a:srgbClr val="A93226"/>
                </a:solidFill>
                <a:latin typeface="Calibri"/>
              </a:defRPr>
            </a:pPr>
            <a:r>
              <a:t>Web Application (AICTE &amp; Institution Portal)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Frontend: </a:t>
            </a:r>
            <a:r>
              <a:rPr sz="1000">
                <a:solidFill>
                  <a:srgbClr val="212529"/>
                </a:solidFill>
                <a:latin typeface="Calibri"/>
              </a:rPr>
              <a:t>Next.js 16 (React 19) + Tailwind CSS v4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Auth &amp; RBAC: </a:t>
            </a:r>
            <a:r>
              <a:rPr sz="1000">
                <a:solidFill>
                  <a:srgbClr val="212529"/>
                </a:solidFill>
                <a:latin typeface="Calibri"/>
              </a:rPr>
              <a:t>JWT Authentication + Multi-Tenant RBAC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Backend: </a:t>
            </a:r>
            <a:r>
              <a:rPr sz="1000">
                <a:solidFill>
                  <a:srgbClr val="212529"/>
                </a:solidFill>
                <a:latin typeface="Calibri"/>
              </a:rPr>
              <a:t>FastAPI (Python 3.12) + Uvicorn Async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Validation Pipeline: </a:t>
            </a:r>
            <a:r>
              <a:rPr sz="1000">
                <a:solidFill>
                  <a:srgbClr val="212529"/>
                </a:solidFill>
                <a:latin typeface="Calibri"/>
              </a:rPr>
              <a:t>10-Point Rule Engine (Aadhaar/APAAR Checksum, Format, Dual-Enrolment)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Anomaly Engine: </a:t>
            </a:r>
            <a:r>
              <a:rPr sz="1000">
                <a:solidFill>
                  <a:srgbClr val="212529"/>
                </a:solidFill>
                <a:latin typeface="Calibri"/>
              </a:rPr>
              <a:t>Scikit-Learn Anomaly Detection &amp; Over-Enrolment Monitoring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Database: </a:t>
            </a:r>
            <a:r>
              <a:rPr sz="1000">
                <a:solidFill>
                  <a:srgbClr val="212529"/>
                </a:solidFill>
                <a:latin typeface="Calibri"/>
              </a:rPr>
              <a:t>PostgreSQL / SQLite + SQLAlchemy ORM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93226"/>
                </a:solidFill>
                <a:latin typeface="Calibri"/>
              </a:rPr>
              <a:t>Reporting &amp; Export: </a:t>
            </a:r>
            <a:r>
              <a:rPr sz="1000">
                <a:solidFill>
                  <a:srgbClr val="2980B9"/>
                </a:solidFill>
                <a:latin typeface="Calibri"/>
              </a:rPr>
              <a:t>CSV/XLSX Ingestion + Recharts Analytics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Security: </a:t>
            </a:r>
            <a:r>
              <a:rPr sz="1000">
                <a:solidFill>
                  <a:srgbClr val="212529"/>
                </a:solidFill>
                <a:latin typeface="Calibri"/>
              </a:rPr>
              <a:t>SHA-256 Cryptographic Seals, Masked APAAR IDs, Zero-Knowledge Proofs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93226"/>
                </a:solidFill>
                <a:latin typeface="Calibri"/>
              </a:rPr>
              <a:t>YouTube Demo: </a:t>
            </a:r>
            <a:r>
              <a:rPr sz="1000" u="sng">
                <a:solidFill>
                  <a:srgbClr val="0066CC"/>
                </a:solidFill>
                <a:latin typeface="Calibri"/>
                <a:hlinkClick r:id="rId3"/>
              </a:rPr>
              <a:t>https://youtu.be/rEz9BszbQnQ?si=c1oF4zL5QWqgU2EB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93226"/>
                </a:solidFill>
                <a:latin typeface="Calibri"/>
              </a:rPr>
              <a:t>GitHub Repo: </a:t>
            </a:r>
            <a:r>
              <a:rPr sz="1000" u="sng">
                <a:solidFill>
                  <a:srgbClr val="0066CC"/>
                </a:solidFill>
                <a:latin typeface="Calibri"/>
                <a:hlinkClick r:id="rId4"/>
              </a:rPr>
              <a:t>https://github.com/SDP-001/SIH.git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000" y="1150000"/>
            <a:ext cx="56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500">
                <a:solidFill>
                  <a:srgbClr val="102A4D"/>
                </a:solidFill>
                <a:latin typeface="Calibri"/>
              </a:defRPr>
            </a:pPr>
            <a:r>
              <a:t>PROTOTYPE SCREENSHOT</a:t>
            </a:r>
          </a:p>
        </p:txBody>
      </p:sp>
      <p:pic>
        <p:nvPicPr>
          <p:cNvPr id="11" name="Picture 10" descr="prototype_dashboard_screensh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000" y="1650000"/>
            <a:ext cx="5600000" cy="40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00000" y="5750000"/>
            <a:ext cx="5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300">
                <a:solidFill>
                  <a:srgbClr val="102A4D"/>
                </a:solidFill>
                <a:latin typeface="Calibri"/>
              </a:defRPr>
            </a:pPr>
            <a:r>
              <a:t>AICTE Regulatory Command Centre &amp; Student Verification Portal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0000"/>
            <a:ext cx="25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i="1" b="1" sz="2400">
                <a:solidFill>
                  <a:srgbClr val="A93226"/>
                </a:solidFill>
                <a:latin typeface="Georgia"/>
              </a:defRPr>
            </a:pPr>
            <a:r>
              <a:t>Byte codx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00000" y="140000"/>
            <a:ext cx="6600000" cy="6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400">
                <a:solidFill>
                  <a:srgbClr val="102A4D"/>
                </a:solidFill>
                <a:latin typeface="Calibri"/>
              </a:defRPr>
            </a:pPr>
            <a:r>
              <a:t>TECHNICAL APPROACH</a:t>
            </a:r>
          </a:p>
        </p:txBody>
      </p:sp>
      <p:pic>
        <p:nvPicPr>
          <p:cNvPr id="5" name="Picture 4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0000" y="80000"/>
            <a:ext cx="1900000" cy="96574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20000"/>
            <a:ext cx="12192000" cy="438000"/>
          </a:xfrm>
          <a:prstGeom prst="rect">
            <a:avLst/>
          </a:prstGeom>
          <a:solidFill>
            <a:srgbClr val="10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0000" y="6440000"/>
            <a:ext cx="34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0000" y="6440000"/>
            <a:ext cx="6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0000" y="1150000"/>
            <a:ext cx="5100000" cy="505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93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400" u="sng">
                <a:solidFill>
                  <a:srgbClr val="A93226"/>
                </a:solidFill>
                <a:latin typeface="Calibri"/>
              </a:defRPr>
            </a:pPr>
            <a:r>
              <a:t>Student Credential &amp; Public Verification Engine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Architecture: </a:t>
            </a:r>
            <a:r>
              <a:rPr sz="1000">
                <a:solidFill>
                  <a:srgbClr val="212529"/>
                </a:solidFill>
                <a:latin typeface="Calibri"/>
              </a:rPr>
              <a:t>Mobile-Responsive Progressive Web App (PWA)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Student Vault: </a:t>
            </a:r>
            <a:r>
              <a:rPr sz="1000">
                <a:solidFill>
                  <a:srgbClr val="212529"/>
                </a:solidFill>
                <a:latin typeface="Calibri"/>
              </a:rPr>
              <a:t>Self-Service Digital APAAR ID &amp; Credential Status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QR Technology: </a:t>
            </a:r>
            <a:r>
              <a:rPr sz="1000">
                <a:solidFill>
                  <a:srgbClr val="212529"/>
                </a:solidFill>
                <a:latin typeface="Calibri"/>
              </a:rPr>
              <a:t>High-Density Cryptographic QR Code Generator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Verification Mechanism: </a:t>
            </a:r>
            <a:r>
              <a:rPr sz="1000">
                <a:solidFill>
                  <a:srgbClr val="212529"/>
                </a:solidFill>
                <a:latin typeface="Calibri"/>
              </a:rPr>
              <a:t>Instant camera/scanner lookup with Zero PII leakage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Tamper-Evident Seal: </a:t>
            </a:r>
            <a:r>
              <a:rPr sz="1000">
                <a:solidFill>
                  <a:srgbClr val="212529"/>
                </a:solidFill>
                <a:latin typeface="Calibri"/>
              </a:rPr>
              <a:t>SHA-256 Ledger Verification against AICTE Database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AI Regulatory Assistant: </a:t>
            </a:r>
            <a:r>
              <a:rPr sz="1000">
                <a:solidFill>
                  <a:srgbClr val="212529"/>
                </a:solidFill>
                <a:latin typeface="Calibri"/>
              </a:rPr>
              <a:t>Conversational NLP for AICTE Officers &amp; Audits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Dual REST Adapters: </a:t>
            </a:r>
            <a:r>
              <a:rPr sz="1000">
                <a:solidFill>
                  <a:srgbClr val="212529"/>
                </a:solidFill>
                <a:latin typeface="Calibri"/>
              </a:rPr>
              <a:t>Pluggable Mock Sandbox + Production APAAR/ABC API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102A4D"/>
                </a:solidFill>
                <a:latin typeface="Calibri"/>
              </a:rPr>
              <a:t>Offline Fallback: </a:t>
            </a:r>
            <a:r>
              <a:rPr sz="1000">
                <a:solidFill>
                  <a:srgbClr val="212529"/>
                </a:solidFill>
                <a:latin typeface="Calibri"/>
              </a:rPr>
              <a:t>Cached cryptographic proofs for low-connectivity regions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93226"/>
                </a:solidFill>
                <a:latin typeface="Calibri"/>
              </a:rPr>
              <a:t>YouTube Demo: </a:t>
            </a:r>
            <a:r>
              <a:rPr sz="1000" u="sng">
                <a:solidFill>
                  <a:srgbClr val="0066CC"/>
                </a:solidFill>
                <a:latin typeface="Calibri"/>
                <a:hlinkClick r:id="rId3"/>
              </a:rPr>
              <a:t>https://youtu.be/rEz9BszbQnQ?si=c1oF4zL5QWqgU2EB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93226"/>
                </a:solidFill>
                <a:latin typeface="Calibri"/>
              </a:rPr>
              <a:t>GitHub Repo: </a:t>
            </a:r>
            <a:r>
              <a:rPr sz="1000" u="sng">
                <a:solidFill>
                  <a:srgbClr val="0066CC"/>
                </a:solidFill>
                <a:latin typeface="Calibri"/>
                <a:hlinkClick r:id="rId4"/>
              </a:rPr>
              <a:t>https://github.com/SDP-001/SIH.git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000" y="1150000"/>
            <a:ext cx="56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500">
                <a:solidFill>
                  <a:srgbClr val="102A4D"/>
                </a:solidFill>
                <a:latin typeface="Calibri"/>
              </a:defRPr>
            </a:pPr>
            <a:r>
              <a:t>PROTOTYPE SCREENSHOT</a:t>
            </a:r>
          </a:p>
        </p:txBody>
      </p:sp>
      <p:pic>
        <p:nvPicPr>
          <p:cNvPr id="11" name="Picture 10" descr="prototype_mobile_verification_screensh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000" y="1650000"/>
            <a:ext cx="5600000" cy="40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00000" y="5750000"/>
            <a:ext cx="5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300">
                <a:solidFill>
                  <a:srgbClr val="102A4D"/>
                </a:solidFill>
                <a:latin typeface="Calibri"/>
              </a:defRPr>
            </a:pPr>
            <a:r>
              <a:t>Student Digital Academic Identity &amp; Zero-Knowledge QR Verification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0000"/>
            <a:ext cx="25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i="1" b="1" sz="2400">
                <a:solidFill>
                  <a:srgbClr val="A93226"/>
                </a:solidFill>
                <a:latin typeface="Georgia"/>
              </a:defRPr>
            </a:pPr>
            <a:r>
              <a:t>Byte codx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00000" y="140000"/>
            <a:ext cx="6600000" cy="6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400">
                <a:solidFill>
                  <a:srgbClr val="102A4D"/>
                </a:solidFill>
                <a:latin typeface="Calibri"/>
              </a:defRPr>
            </a:pPr>
            <a:r>
              <a:t>FEASIBILITY AND VIABILITY</a:t>
            </a:r>
          </a:p>
        </p:txBody>
      </p:sp>
      <p:pic>
        <p:nvPicPr>
          <p:cNvPr id="5" name="Picture 4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0000" y="80000"/>
            <a:ext cx="1900000" cy="96574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20000"/>
            <a:ext cx="12192000" cy="438000"/>
          </a:xfrm>
          <a:prstGeom prst="rect">
            <a:avLst/>
          </a:prstGeom>
          <a:solidFill>
            <a:srgbClr val="10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0000" y="6440000"/>
            <a:ext cx="34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0000" y="6440000"/>
            <a:ext cx="6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0000" y="1200000"/>
            <a:ext cx="3500000" cy="550000"/>
          </a:xfrm>
          <a:prstGeom prst="roundRect">
            <a:avLst/>
          </a:prstGeom>
          <a:solidFill>
            <a:srgbClr val="E55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  <a:latin typeface="Calibri"/>
              </a:defRPr>
            </a:pPr>
            <a:r>
              <a:t>Feasibility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0000" y="1200000"/>
            <a:ext cx="3500000" cy="5500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  <a:latin typeface="Calibri"/>
              </a:defRPr>
            </a:pPr>
            <a:r>
              <a:t>Challenges &amp; Risks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0000" y="1200000"/>
            <a:ext cx="3500000" cy="55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  <a:latin typeface="Calibri"/>
              </a:defRPr>
            </a:pPr>
            <a:r>
              <a:t>Mitigation Strategies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0000" y="1900000"/>
            <a:ext cx="3500000" cy="1300000"/>
          </a:xfrm>
          <a:prstGeom prst="roundRect">
            <a:avLst/>
          </a:prstGeom>
          <a:solidFill>
            <a:srgbClr val="FFF3F0"/>
          </a:solidFill>
          <a:ln w="19050">
            <a:solidFill>
              <a:srgbClr val="E550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Prototype Ready Tech Stack</a:t>
            </a:r>
          </a:p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Modern production-grade stack (Next.js 16 + FastAPI + PostgreSQL/SQLite) fully implemented and operational.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0000" y="3350000"/>
            <a:ext cx="3500000" cy="1300000"/>
          </a:xfrm>
          <a:prstGeom prst="roundRect">
            <a:avLst/>
          </a:prstGeom>
          <a:solidFill>
            <a:srgbClr val="FFF3F0"/>
          </a:solidFill>
          <a:ln w="19050">
            <a:solidFill>
              <a:srgbClr val="E550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Core AICTE Features Achieved</a:t>
            </a:r>
          </a:p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Intake vs actual enrolment monitoring, 10-point validation, and multi-tenant RBAC working end-to-end.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000" y="4800000"/>
            <a:ext cx="3500000" cy="1300000"/>
          </a:xfrm>
          <a:prstGeom prst="roundRect">
            <a:avLst/>
          </a:prstGeom>
          <a:solidFill>
            <a:srgbClr val="FFF3F0"/>
          </a:solidFill>
          <a:ln w="19050">
            <a:solidFill>
              <a:srgbClr val="E550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Low-Cost Scalable Deployment</a:t>
            </a:r>
          </a:p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Containerized Docker setup with asynchronous API endpoints for low-cost nationwide university rollout.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0000" y="1900000"/>
            <a:ext cx="3500000" cy="130000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Incomplete Student Records</a:t>
            </a:r>
          </a:p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Institutions uploading legacy or dirty data with missing roll numbers or invalid APAAR format.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0000" y="3350000"/>
            <a:ext cx="3500000" cy="130000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Cross-Campus Dual Enrolments</a:t>
            </a:r>
          </a:p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Students concurrently admitted across two institutions claiming duplicate seats and scholarships.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0000" y="4800000"/>
            <a:ext cx="3500000" cy="130000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Verification Service Limits</a:t>
            </a:r>
          </a:p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Rate limits, network latency, or unexpected downtime on official third-party APAAR/ABC APIs.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0000" y="1900000"/>
            <a:ext cx="3500000" cy="1300000"/>
          </a:xfrm>
          <a:prstGeom prst="round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Automated Checks &amp; Corrections</a:t>
            </a:r>
          </a:p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Immediate schema checks on upload with human-in-the-loop correction and re-validation workflows.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000" y="3350000"/>
            <a:ext cx="3500000" cy="1300000"/>
          </a:xfrm>
          <a:prstGeom prst="round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Fuzzy &amp; Rule-Based Detector</a:t>
            </a:r>
          </a:p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Similarity and exact-match algorithms flag dual enrolments with resolution audit logs.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0000" y="4800000"/>
            <a:ext cx="3500000" cy="1300000"/>
          </a:xfrm>
          <a:prstGeom prst="round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Pluggable Dual-Adapter Design</a:t>
            </a:r>
          </a:p>
          <a:p>
            <a:pPr algn="ctr">
              <a:defRPr sz="950">
                <a:solidFill>
                  <a:srgbClr val="212529"/>
                </a:solidFill>
                <a:latin typeface="Calibri"/>
              </a:defRPr>
            </a:pPr>
            <a:r>
              <a:t>Built-in simulation sandbox allows seamless offline testing with zero external API downtime.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0000"/>
            <a:ext cx="25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i="1" b="1" sz="2400">
                <a:solidFill>
                  <a:srgbClr val="A93226"/>
                </a:solidFill>
                <a:latin typeface="Georgia"/>
              </a:defRPr>
            </a:pPr>
            <a:r>
              <a:t>Byte codx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00000" y="140000"/>
            <a:ext cx="6600000" cy="6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400">
                <a:solidFill>
                  <a:srgbClr val="102A4D"/>
                </a:solidFill>
                <a:latin typeface="Calibri"/>
              </a:defRPr>
            </a:pPr>
            <a:r>
              <a:t>IMPACT AND BENEFITS</a:t>
            </a:r>
          </a:p>
        </p:txBody>
      </p:sp>
      <p:pic>
        <p:nvPicPr>
          <p:cNvPr id="5" name="Picture 4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0000" y="80000"/>
            <a:ext cx="1900000" cy="96574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20000"/>
            <a:ext cx="12192000" cy="438000"/>
          </a:xfrm>
          <a:prstGeom prst="rect">
            <a:avLst/>
          </a:prstGeom>
          <a:solidFill>
            <a:srgbClr val="10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0000" y="6440000"/>
            <a:ext cx="34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0000" y="6440000"/>
            <a:ext cx="6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0000" y="1250000"/>
            <a:ext cx="3600000" cy="1550000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0000" y="1350000"/>
            <a:ext cx="800000" cy="1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600">
                <a:solidFill>
                  <a:srgbClr val="E651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0000" y="1370000"/>
            <a:ext cx="2550000" cy="1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Regulatory Integrity (AICTE)</a:t>
            </a:r>
          </a:p>
          <a:p>
            <a:pPr>
              <a:defRPr sz="1000">
                <a:solidFill>
                  <a:srgbClr val="212529"/>
                </a:solidFill>
                <a:latin typeface="Calibri"/>
              </a:defRPr>
            </a:pPr>
            <a:r>
              <a:t>Real-time intake vs enrolment monitoring eliminates unauthorized seat over-allocation and ghost enrolments across technical campuses.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0000" y="3000000"/>
            <a:ext cx="3600000" cy="1550000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000" y="3100000"/>
            <a:ext cx="800000" cy="1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600">
                <a:solidFill>
                  <a:srgbClr val="E651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0000" y="3120000"/>
            <a:ext cx="2550000" cy="1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Fraud &amp; Duplicate Prevention</a:t>
            </a:r>
          </a:p>
          <a:p>
            <a:pPr>
              <a:defRPr sz="1000">
                <a:solidFill>
                  <a:srgbClr val="212529"/>
                </a:solidFill>
                <a:latin typeface="Calibri"/>
              </a:defRPr>
            </a:pPr>
            <a:r>
              <a:t>Automated cross-institutional checks prevent concurrent admissions and fraudulent duplicate scholarship claims.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0000" y="2100000"/>
            <a:ext cx="3600000" cy="1550000"/>
          </a:xfrm>
          <a:prstGeom prst="round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0000" y="2200000"/>
            <a:ext cx="800000" cy="1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600">
                <a:solidFill>
                  <a:srgbClr val="2980B9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0000" y="2220000"/>
            <a:ext cx="2550000" cy="1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Transparency &amp; Trust</a:t>
            </a:r>
          </a:p>
          <a:p>
            <a:pPr>
              <a:defRPr sz="1000">
                <a:solidFill>
                  <a:srgbClr val="212529"/>
                </a:solidFill>
                <a:latin typeface="Calibri"/>
              </a:defRPr>
            </a:pPr>
            <a:r>
              <a:t>Cryptographic zero-knowledge verification prevents credential tampering, fake degrees, and falsified academic records.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0000" y="1250000"/>
            <a:ext cx="3600000" cy="1550000"/>
          </a:xfrm>
          <a:prstGeom prst="round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0000" y="1350000"/>
            <a:ext cx="800000" cy="1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600">
                <a:solidFill>
                  <a:srgbClr val="2980B9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0000" y="1370000"/>
            <a:ext cx="2550000" cy="1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Operational Efficiency</a:t>
            </a:r>
          </a:p>
          <a:p>
            <a:pPr>
              <a:defRPr sz="1000">
                <a:solidFill>
                  <a:srgbClr val="212529"/>
                </a:solidFill>
                <a:latin typeface="Calibri"/>
              </a:defRPr>
            </a:pPr>
            <a:r>
              <a:t>Standardized bulk upload and 10-point automated checks reduce manual reporting workload and inspection backlogs by 80%.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0000" y="3000000"/>
            <a:ext cx="3600000" cy="1550000"/>
          </a:xfrm>
          <a:prstGeom prst="round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0000" y="3100000"/>
            <a:ext cx="800000" cy="1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600">
                <a:solidFill>
                  <a:srgbClr val="2980B9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00000" y="3120000"/>
            <a:ext cx="2550000" cy="1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02A4D"/>
                </a:solidFill>
                <a:latin typeface="Calibri"/>
              </a:defRPr>
            </a:pPr>
            <a:r>
              <a:t>Scalable for Future</a:t>
            </a:r>
          </a:p>
          <a:p>
            <a:pPr>
              <a:defRPr sz="1000">
                <a:solidFill>
                  <a:srgbClr val="212529"/>
                </a:solidFill>
                <a:latin typeface="Calibri"/>
              </a:defRPr>
            </a:pPr>
            <a:r>
              <a:t>Privacy-by-design architecture strictly adheres to DPDP Act 2023, ready for nationwide rollout across all AICTE universities.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0000" y="4800000"/>
            <a:ext cx="11200000" cy="1300000"/>
          </a:xfrm>
          <a:prstGeom prst="roundRect">
            <a:avLst/>
          </a:prstGeom>
          <a:solidFill>
            <a:srgbClr val="FFF8F0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300">
                <a:solidFill>
                  <a:srgbClr val="A93226"/>
                </a:solidFill>
                <a:latin typeface="Calibri"/>
              </a:defRPr>
            </a:pPr>
            <a:r>
              <a:t>🎥 WORKING PROTOTYPE DEMONSTRATION &amp; REPOSITORY LINKS</a:t>
            </a:r>
          </a:p>
          <a:p>
            <a:pPr algn="ctr">
              <a:spcAft>
                <a:spcPts val="400"/>
              </a:spcAft>
            </a:pPr>
            <a:r>
              <a:rPr b="1" sz="1150">
                <a:solidFill>
                  <a:srgbClr val="A93226"/>
                </a:solidFill>
                <a:latin typeface="Calibri"/>
              </a:rPr>
              <a:t>▶ YouTube Prototype Video: </a:t>
            </a:r>
            <a:r>
              <a:rPr b="1" sz="1150" u="sng">
                <a:solidFill>
                  <a:srgbClr val="0066CC"/>
                </a:solidFill>
                <a:latin typeface="Calibri"/>
                <a:hlinkClick r:id="rId3"/>
              </a:rPr>
              <a:t>https://youtu.be/rEz9BszbQnQ?si=c1oF4zL5QWqgU2EB</a:t>
            </a:r>
          </a:p>
          <a:p>
            <a:pPr algn="ctr"/>
            <a:r>
              <a:rPr b="1" sz="1150">
                <a:solidFill>
                  <a:srgbClr val="102A4D"/>
                </a:solidFill>
                <a:latin typeface="Calibri"/>
              </a:rPr>
              <a:t>▶ GitHub Source Repository: </a:t>
            </a:r>
            <a:r>
              <a:rPr b="1" sz="1150" u="sng">
                <a:solidFill>
                  <a:srgbClr val="0066CC"/>
                </a:solidFill>
                <a:latin typeface="Calibri"/>
                <a:hlinkClick r:id="rId4"/>
              </a:rPr>
              <a:t>https://github.com/SDP-001/SIH.git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