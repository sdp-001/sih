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81" r:id="rId3"/>
    <p:sldId id="290" r:id="rId4"/>
    <p:sldId id="293" r:id="rId5"/>
    <p:sldId id="294" r:id="rId6"/>
    <p:sldId id="296" r:id="rId7"/>
    <p:sldId id="297" r:id="rId14"/>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8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DP _SINGLE_BOY 001" userId="d0bb100229ec2953" providerId="LiveId" clId="{6140C69E-1409-4645-B296-979696898715}"/>
    <pc:docChg chg="modSld">
      <pc:chgData name="SDP _SINGLE_BOY 001" userId="d0bb100229ec2953" providerId="LiveId" clId="{6140C69E-1409-4645-B296-979696898715}" dt="2026-10-29T05:22:05.259" v="59" actId="20577"/>
      <pc:docMkLst>
        <pc:docMk/>
      </pc:docMkLst>
      <pc:sldChg chg="modSp mod">
        <pc:chgData name="SDP _SINGLE_BOY 001" userId="d0bb100229ec2953" providerId="LiveId" clId="{6140C69E-1409-4645-B296-979696898715}" dt="2026-10-27T08:37:59.260" v="42"/>
        <pc:sldMkLst>
          <pc:docMk/>
          <pc:sldMk cId="0" sldId="281"/>
        </pc:sldMkLst>
        <pc:spChg chg="mod">
          <ac:chgData name="SDP _SINGLE_BOY 001" userId="d0bb100229ec2953" providerId="LiveId" clId="{6140C69E-1409-4645-B296-979696898715}" dt="2026-10-27T08:37:59.260" v="42"/>
          <ac:spMkLst>
            <pc:docMk/>
            <pc:sldMk cId="0" sldId="281"/>
            <ac:spMk id="10" creationId="{5DBCE864-823D-4A13-9607-5DA1F0ED5FB8}"/>
          </ac:spMkLst>
        </pc:spChg>
      </pc:sldChg>
      <pc:sldChg chg="modSp mod">
        <pc:chgData name="SDP _SINGLE_BOY 001" userId="d0bb100229ec2953" providerId="LiveId" clId="{6140C69E-1409-4645-B296-979696898715}" dt="2026-10-27T08:38:11.927" v="44" actId="113"/>
        <pc:sldMkLst>
          <pc:docMk/>
          <pc:sldMk cId="0" sldId="290"/>
        </pc:sldMkLst>
        <pc:spChg chg="mod">
          <ac:chgData name="SDP _SINGLE_BOY 001" userId="d0bb100229ec2953" providerId="LiveId" clId="{6140C69E-1409-4645-B296-979696898715}" dt="2026-10-27T08:38:11.927" v="44" actId="113"/>
          <ac:spMkLst>
            <pc:docMk/>
            <pc:sldMk cId="0" sldId="290"/>
            <ac:spMk id="11" creationId="{5DBCE864-823D-4A13-9607-5DA1F0ED5FB8}"/>
          </ac:spMkLst>
        </pc:spChg>
      </pc:sldChg>
      <pc:sldChg chg="modSp mod">
        <pc:chgData name="SDP _SINGLE_BOY 001" userId="d0bb100229ec2953" providerId="LiveId" clId="{6140C69E-1409-4645-B296-979696898715}" dt="2026-10-29T05:22:05.259" v="59" actId="20577"/>
        <pc:sldMkLst>
          <pc:docMk/>
          <pc:sldMk cId="0" sldId="291"/>
        </pc:sldMkLst>
        <pc:spChg chg="mod">
          <ac:chgData name="SDP _SINGLE_BOY 001" userId="d0bb100229ec2953" providerId="LiveId" clId="{6140C69E-1409-4645-B296-979696898715}" dt="2026-10-29T05:22:05.259" v="59" actId="20577"/>
          <ac:spMkLst>
            <pc:docMk/>
            <pc:sldMk cId="0" sldId="291"/>
            <ac:spMk id="10" creationId="{00000000-0000-0000-0000-000000000000}"/>
          </ac:spMkLst>
        </pc:spChg>
      </pc:sldChg>
      <pc:sldChg chg="modSp mod">
        <pc:chgData name="SDP _SINGLE_BOY 001" userId="d0bb100229ec2953" providerId="LiveId" clId="{6140C69E-1409-4645-B296-979696898715}" dt="2026-10-27T08:38:22.439" v="46"/>
        <pc:sldMkLst>
          <pc:docMk/>
          <pc:sldMk cId="3753387913" sldId="293"/>
        </pc:sldMkLst>
        <pc:spChg chg="mod">
          <ac:chgData name="SDP _SINGLE_BOY 001" userId="d0bb100229ec2953" providerId="LiveId" clId="{6140C69E-1409-4645-B296-979696898715}" dt="2026-10-27T08:38:22.439" v="46"/>
          <ac:spMkLst>
            <pc:docMk/>
            <pc:sldMk cId="3753387913" sldId="293"/>
            <ac:spMk id="12" creationId="{5DBCE864-823D-4A13-9607-5DA1F0ED5FB8}"/>
          </ac:spMkLst>
        </pc:spChg>
      </pc:sldChg>
      <pc:sldChg chg="modSp mod">
        <pc:chgData name="SDP _SINGLE_BOY 001" userId="d0bb100229ec2953" providerId="LiveId" clId="{6140C69E-1409-4645-B296-979696898715}" dt="2026-10-27T08:38:30.913" v="48" actId="113"/>
        <pc:sldMkLst>
          <pc:docMk/>
          <pc:sldMk cId="2997144140" sldId="294"/>
        </pc:sldMkLst>
        <pc:spChg chg="mod">
          <ac:chgData name="SDP _SINGLE_BOY 001" userId="d0bb100229ec2953" providerId="LiveId" clId="{6140C69E-1409-4645-B296-979696898715}" dt="2026-10-27T08:38:30.913" v="48" actId="113"/>
          <ac:spMkLst>
            <pc:docMk/>
            <pc:sldMk cId="2997144140" sldId="294"/>
            <ac:spMk id="12" creationId="{5DBCE864-823D-4A13-9607-5DA1F0ED5FB8}"/>
          </ac:spMkLst>
        </pc:spChg>
      </pc:sldChg>
      <pc:sldChg chg="modSp mod">
        <pc:chgData name="SDP _SINGLE_BOY 001" userId="d0bb100229ec2953" providerId="LiveId" clId="{6140C69E-1409-4645-B296-979696898715}" dt="2026-10-27T08:38:45.728" v="51" actId="113"/>
        <pc:sldMkLst>
          <pc:docMk/>
          <pc:sldMk cId="3916788613" sldId="296"/>
        </pc:sldMkLst>
        <pc:spChg chg="mod">
          <ac:chgData name="SDP _SINGLE_BOY 001" userId="d0bb100229ec2953" providerId="LiveId" clId="{6140C69E-1409-4645-B296-979696898715}" dt="2026-10-27T08:38:45.728" v="51" actId="113"/>
          <ac:spMkLst>
            <pc:docMk/>
            <pc:sldMk cId="3916788613" sldId="296"/>
            <ac:spMk id="9" creationId="{5DBCE864-823D-4A13-9607-5DA1F0ED5FB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10/29/2026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Good day, everyone. Our project is APAAR-Vault, for Problem Statement 26263.</a:t>
            </a:r>
          </a:p>
          <a:p>
            <a:r>
              <a:rPr lang="en-US" dirty="0"/>
              <a:t>The problem statement asks for a platform that manages and verifies student data for AICTE-approved institutions.</a:t>
            </a:r>
          </a:p>
          <a:p>
            <a:r>
              <a:rPr lang="en-US" dirty="0"/>
              <a:t>Our idea in one line: Smarter Student Data Management. Better Verification. Greater Trust.</a:t>
            </a:r>
          </a:p>
          <a:p>
            <a:r>
              <a:rPr lang="en-US" dirty="0"/>
              <a:t>Introduce the team: team name, members, institution and department.</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1</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Student data reaches AICTE through different submission mechanisms. This can lead to missing information, duplicate records and enrolment inconsistencies that need manual checking.</a:t>
            </a:r>
          </a:p>
          <a:p>
            <a:r>
              <a:rPr lang="en-US" dirty="0"/>
              <a:t>APAAR-Vault is a central platform where institutions upload student data. The platform validates it, flags errors and possible duplicates, tracks verification status and shows intake versus enrolment.</a:t>
            </a:r>
          </a:p>
          <a:p>
            <a:r>
              <a:rPr lang="en-US" dirty="0"/>
              <a:t>Our key point: we keep three things separate - format validation, record validation and official APAAR verification. Official verification needs an authorized service, and we plan to connect to one.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Technology: Next.js with TypeScript for the web dashboard, FastAPI with Python for the backend, PostgreSQL for the database, and secure REST APIs for integration.</a:t>
            </a:r>
          </a:p>
          <a:p>
            <a:r>
              <a:rPr lang="en-US" dirty="0"/>
              <a:t>Workflow: the institution logs in and uploads data. The system validates each record and flags errors and possible duplicates. The user reviews and corrects them, and invalid records go back for re-validation.</a:t>
            </a:r>
          </a:p>
          <a:p>
            <a:r>
              <a:rPr lang="en-US" dirty="0"/>
              <a:t>Verification statuses are Pending, In Review, Verified and Failed. A format check never proves identity. Official verification needs an authorized API.</a:t>
            </a:r>
          </a:p>
          <a:p>
            <a:r>
              <a:rPr lang="en-US" dirty="0"/>
              <a:t>At the end, the dashboard shows intake versus enrolment and reports can be generated. Role-based access and audit logs protect every step.</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The idea is practical because it uses a standard web stack and simple import templates.</a:t>
            </a:r>
          </a:p>
          <a:p>
            <a:r>
              <a:rPr lang="en-US" dirty="0"/>
              <a:t>We are honest about limits. Official APAAR verification needs authorized access. Until that is available, the platform works as a verification-status tracking workflow.</a:t>
            </a:r>
          </a:p>
          <a:p>
            <a:r>
              <a:rPr lang="en-US" dirty="0"/>
              <a:t>On the right, each challenge has a matching solution: required-field checks, duplicate review, standard templates, an authorized API, and access controls with audit logs for sensitive data.</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Who benefits: AICTE gets better visibility of intake and enrolment. Institutions get one organized process. Students get more consistent records. Administrators do less repetitive checking.</a:t>
            </a:r>
          </a:p>
          <a:p>
            <a:r>
              <a:rPr lang="en-US" dirty="0"/>
              <a:t>These are expected benefits of the design, not measured results. We do not claim any statistics.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These references explain the background: APAAR ID and NEP 2020, the Academic Bank of Credits, DigiLocker for digital documents, AICTE regulation, and the DPDP Act 2023 as a guide for privacy-aware design.</a:t>
            </a:r>
          </a:p>
          <a:p>
            <a:r>
              <a:rPr lang="en-US" dirty="0"/>
              <a:t>We use them only as background. We do not claim legal compliance, and we do not claim official APAAR verification without an authorized integration.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10/29/2026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10/29/2026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10/29/2026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10/29/2026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10/29/2026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10/29/2026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10/29/2026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10/29/2026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10/29/2026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10/29/2026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10/29/2026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10/29/2026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3"/>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50000" cy="2076450"/>
          </a:xfrm>
        </p:spPr>
        <p:txBody>
          <a:bodyPr/>
          <a:lstStyle/>
          <a:p>
            <a:r>
              <a:rPr lang="en-US" sz="3600" b="1" dirty="0">
                <a:solidFill>
                  <a:schemeClr val="tx2"/>
                </a:solidFill>
                <a:latin typeface="Garamond" panose="02020404030301010803" pitchFamily="18" charset="0"/>
              </a:rPr>
              <a:t>SMART INDIA HACKATHON 2026</a:t>
            </a:r>
            <a:endParaRPr lang="en-IN" sz="3600" b="1" dirty="0">
              <a:solidFill>
                <a:schemeClr val="tx2"/>
              </a:solidFill>
              <a:latin typeface="Garamond" panose="02020404030301010803" pitchFamily="18" charset="0"/>
            </a:endParaRPr>
          </a:p>
        </p:txBody>
      </p:sp>
      <p:sp>
        <p:nvSpPr>
          <p:cNvPr id="10" name="TextBox 9"/>
          <p:cNvSpPr txBox="1"/>
          <p:nvPr/>
        </p:nvSpPr>
        <p:spPr>
          <a:xfrm>
            <a:off x="331286" y="2076450"/>
            <a:ext cx="5924550" cy="4028732"/>
          </a:xfrm>
          <a:prstGeom prst="rect">
            <a:avLst/>
          </a:prstGeom>
          <a:noFill/>
        </p:spPr>
        <p:txBody>
          <a:bodyPr wrap="square" rtlCol="0">
            <a:spAutoFit/>
          </a:bodyPr>
          <a:lstStyle/>
          <a:p>
            <a:endParaRPr lang="en-US" dirty="0"/>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Problem Statement ID – </a:t>
            </a:r>
            <a:r>
              <a:rPr lang="en-US" sz="2000" b="0" dirty="0">
                <a:latin typeface="Arial" panose="020B0604020202020204" pitchFamily="34" charset="0"/>
                <a:cs typeface="Arial" panose="020B0604020202020204" pitchFamily="34" charset="0"/>
              </a:rPr>
              <a:t>26263</a:t>
            </a: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Problem Statement Title – </a:t>
            </a:r>
            <a:r>
              <a:rPr lang="en-US" sz="2000" b="0" dirty="0">
                <a:latin typeface="Arial" panose="020B0604020202020204" pitchFamily="34" charset="0"/>
                <a:cs typeface="Arial" panose="020B0604020202020204" pitchFamily="34" charset="0"/>
              </a:rPr>
              <a:t>Development of an APAAR ID-Based Student Data Management and Verification Platform for AICTE-Approved Institutions</a:t>
            </a: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Project Name – </a:t>
            </a:r>
            <a:r>
              <a:rPr lang="en-US" sz="2000" b="0" dirty="0">
                <a:latin typeface="Arial" panose="020B0604020202020204" pitchFamily="34" charset="0"/>
                <a:cs typeface="Arial" panose="020B0604020202020204" pitchFamily="34" charset="0"/>
              </a:rPr>
              <a:t>APAAR-Vault</a:t>
            </a: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Theme – </a:t>
            </a:r>
            <a:r>
              <a:rPr lang="en-US" sz="2000" b="0" dirty="0">
                <a:latin typeface="Arial" panose="020B0604020202020204" pitchFamily="34" charset="0"/>
                <a:cs typeface="Arial" panose="020B0604020202020204" pitchFamily="34" charset="0"/>
              </a:rPr>
              <a:t>Smart Automation</a:t>
            </a: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PS Category – </a:t>
            </a:r>
            <a:r>
              <a:rPr lang="en-US" sz="2000" b="0" dirty="0">
                <a:latin typeface="Arial" panose="020B0604020202020204" pitchFamily="34" charset="0"/>
                <a:cs typeface="Arial" panose="020B0604020202020204" pitchFamily="34" charset="0"/>
              </a:rPr>
              <a:t>Software</a:t>
            </a: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Team </a:t>
            </a:r>
            <a:r>
              <a:rPr lang="en-US" sz="2000" b="1">
                <a:latin typeface="Arial" panose="020B0604020202020204" pitchFamily="34" charset="0"/>
                <a:cs typeface="Arial" panose="020B0604020202020204" pitchFamily="34" charset="0"/>
              </a:rPr>
              <a:t>ID –</a:t>
            </a:r>
            <a:r>
              <a:rPr lang="en-US" sz="2000">
                <a:latin typeface="Arial" panose="020B0604020202020204" pitchFamily="34" charset="0"/>
                <a:cs typeface="Arial" panose="020B0604020202020204" pitchFamily="34" charset="0"/>
              </a:rPr>
              <a:t>199199</a:t>
            </a:r>
            <a:endParaRPr lang="en-US" sz="2000" b="1" dirty="0">
              <a:latin typeface="Arial" panose="020B0604020202020204" pitchFamily="34" charset="0"/>
              <a:cs typeface="Arial" panose="020B0604020202020204" pitchFamily="34" charset="0"/>
            </a:endParaRPr>
          </a:p>
          <a:p>
            <a:pPr marL="285750" indent="-285750" algn="l">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Team Name – Byte </a:t>
            </a:r>
            <a:r>
              <a:rPr lang="en-US" sz="2000" b="1" dirty="0" err="1">
                <a:latin typeface="Arial" panose="020B0604020202020204" pitchFamily="34" charset="0"/>
                <a:cs typeface="Arial" panose="020B0604020202020204" pitchFamily="34" charset="0"/>
              </a:rPr>
              <a:t>codx</a:t>
            </a:r>
            <a:endParaRPr lang="en-US" sz="2000" b="1" dirty="0">
              <a:latin typeface="Arial" panose="020B0604020202020204" pitchFamily="34" charset="0"/>
              <a:cs typeface="Arial" panose="020B0604020202020204" pitchFamily="34" charset="0"/>
            </a:endParaRPr>
          </a:p>
          <a:p>
            <a:pPr>
              <a:defRPr b="1" sz="1300">
                <a:solidFill>
                  <a:srgbClr val="F15A24"/>
                </a:solidFill>
              </a:defRPr>
            </a:pPr>
            <a:r>
              <a:t>Prototype Demo (YouTube) – https://youtu.be/rEz9BszbQnQ?si=c1oF4zL5QWqgU2EB</a:t>
            </a:r>
          </a:p>
          <a:p>
            <a:pPr>
              <a:defRPr b="1" sz="1300">
                <a:solidFill>
                  <a:srgbClr val="102A4D"/>
                </a:solidFill>
              </a:defRPr>
            </a:pPr>
            <a:r>
              <a:t>GitHub Repository – https://github.com/SDP-001/SIH.git</a:t>
            </a:r>
          </a:p>
        </p:txBody>
      </p:sp>
      <p:pic>
        <p:nvPicPr>
          <p:cNvPr id="1026" name="Picture 2" descr="https://www.sih.gov.in/img1/SIH-Logo.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41366" y="6297"/>
            <a:ext cx="2209120" cy="1122868"/>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1026" descr="apaar-logo.png"/>
          <p:cNvPicPr>
            <a:picLocks noChangeAspect="1"/>
          </p:cNvPicPr>
          <p:nvPr/>
        </p:nvPicPr>
        <p:blipFill>
          <a:blip r:embed="rId5"/>
          <a:stretch>
            <a:fillRect/>
          </a:stretch>
        </p:blipFill>
        <p:spPr>
          <a:xfrm>
            <a:off x="6854891" y="5200000"/>
            <a:ext cx="3203509" cy="179761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50000" y="120000"/>
            <a:ext cx="7950000" cy="1000000"/>
          </a:xfrm>
        </p:spPr>
        <p:txBody>
          <a:bodyPr/>
          <a:lstStyle/>
          <a:p>
            <a:pPr eaLnBrk="1" hangingPunct="1"/>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2800" b="1" dirty="0">
                <a:latin typeface="Times New Roman" panose="02020603050405020304" pitchFamily="18" charset="0"/>
                <a:ea typeface="ＭＳ Ｐゴシック" pitchFamily="1" charset="-128"/>
                <a:cs typeface="Times New Roman" panose="02020603050405020304" pitchFamily="18" charset="0"/>
              </a:rPr>
              <a:t>APAAR-Vault: Student Data Management and Verification Platform</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b="1" dirty="0"/>
              <a:t>BYTE CODX</a:t>
            </a:r>
            <a:endParaRPr lang="en-IN" b="1" dirty="0"/>
          </a:p>
        </p:txBody>
      </p:sp>
      <p:pic>
        <p:nvPicPr>
          <p:cNvPr id="12" name="Picture 2" descr="https://www.sih.gov.in/img1/SIH-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1366" y="57097"/>
            <a:ext cx="2209120" cy="1122868"/>
          </a:xfrm>
          <a:prstGeom prst="rect">
            <a:avLst/>
          </a:prstGeom>
          <a:noFill/>
          <a:extLst>
            <a:ext uri="{909E8E84-426E-40DD-AFC4-6F175D3DCCD1}">
              <a14:hiddenFill xmlns:a14="http://schemas.microsoft.com/office/drawing/2010/main">
                <a:solidFill>
                  <a:srgbClr val="FFFFFF"/>
                </a:solidFill>
              </a14:hiddenFill>
            </a:ext>
          </a:extLst>
        </p:spPr>
      </p:pic>
      <p:sp>
        <p:nvSpPr>
          <p:cNvPr id="201" name="Heading: Proposed Solution"/>
          <p:cNvSpPr/>
          <p:nvPr/>
        </p:nvSpPr>
        <p:spPr>
          <a:xfrm>
            <a:off x="457200" y="1230000"/>
            <a:ext cx="3600000" cy="38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D9661A"/>
                </a:solidFill>
                <a:latin typeface="Arial"/>
                <a:cs typeface="Arial"/>
              </a:rPr>
              <a:t>❖ </a:t>
            </a:r>
            <a:r>
              <a:rPr lang="en-US" sz="2000" b="1" i="0" u="sng" dirty="0">
                <a:solidFill>
                  <a:srgbClr val="0070C0"/>
                </a:solidFill>
                <a:latin typeface="Arial"/>
                <a:cs typeface="Arial"/>
              </a:rPr>
              <a:t>Proposed Solution</a:t>
            </a:r>
          </a:p>
        </p:txBody>
      </p:sp>
      <p:sp>
        <p:nvSpPr>
          <p:cNvPr id="202" name="Tagline"/>
          <p:cNvSpPr/>
          <p:nvPr/>
        </p:nvSpPr>
        <p:spPr>
          <a:xfrm>
            <a:off x="4300000" y="1230000"/>
            <a:ext cx="7434800" cy="3800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500" b="0" i="1" dirty="0">
                <a:solidFill>
                  <a:srgbClr val="4A5764"/>
                </a:solidFill>
                <a:latin typeface="Arial"/>
                <a:cs typeface="Arial"/>
              </a:rPr>
              <a:t>Smarter Student Data Management. Better Verification. Greater Trust.</a:t>
            </a:r>
          </a:p>
        </p:txBody>
      </p:sp>
      <p:sp>
        <p:nvSpPr>
          <p:cNvPr id="203" name="Idea card 1 header"/>
          <p:cNvSpPr/>
          <p:nvPr/>
        </p:nvSpPr>
        <p:spPr>
          <a:xfrm>
            <a:off x="457200" y="1700000"/>
            <a:ext cx="3639200" cy="56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Detailed explanation of the proposed solution</a:t>
            </a:r>
          </a:p>
        </p:txBody>
      </p:sp>
      <p:sp>
        <p:nvSpPr>
          <p:cNvPr id="204" name="Idea card 1 body"/>
          <p:cNvSpPr/>
          <p:nvPr/>
        </p:nvSpPr>
        <p:spPr>
          <a:xfrm>
            <a:off x="457200" y="2260000"/>
            <a:ext cx="3639200" cy="300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500"/>
              </a:spcAft>
              <a:buClr>
                <a:srgbClr val="D9661A"/>
              </a:buClr>
              <a:buFont typeface="Arial"/>
              <a:buChar char="•"/>
            </a:pPr>
            <a:r>
              <a:rPr lang="en-US" sz="1400" b="0" i="0" dirty="0">
                <a:solidFill>
                  <a:srgbClr val="1F2933"/>
                </a:solidFill>
                <a:latin typeface="Arial"/>
                <a:cs typeface="Arial"/>
              </a:rPr>
              <a:t>Centralized student data management and verification-support platform</a:t>
            </a:r>
          </a:p>
          <a:p>
            <a:pPr marL="171450" indent="-171450" algn="l">
              <a:spcBef>
                <a:spcPts val="0"/>
              </a:spcBef>
              <a:spcAft>
                <a:spcPts val="500"/>
              </a:spcAft>
              <a:buClr>
                <a:srgbClr val="D9661A"/>
              </a:buClr>
              <a:buFont typeface="Arial"/>
              <a:buChar char="•"/>
            </a:pPr>
            <a:r>
              <a:rPr lang="en-US" sz="1400" b="0" i="0" dirty="0">
                <a:solidFill>
                  <a:srgbClr val="1F2933"/>
                </a:solidFill>
                <a:latin typeface="Arial"/>
                <a:cs typeface="Arial"/>
              </a:rPr>
              <a:t>Student data upload, validation and error identification</a:t>
            </a:r>
          </a:p>
          <a:p>
            <a:pPr marL="171450" indent="-171450" algn="l">
              <a:spcBef>
                <a:spcPts val="0"/>
              </a:spcBef>
              <a:spcAft>
                <a:spcPts val="500"/>
              </a:spcAft>
              <a:buClr>
                <a:srgbClr val="D9661A"/>
              </a:buClr>
              <a:buFont typeface="Arial"/>
              <a:buChar char="•"/>
            </a:pPr>
            <a:r>
              <a:rPr lang="en-US" sz="1400" b="0" i="0" dirty="0">
                <a:solidFill>
                  <a:srgbClr val="1F2933"/>
                </a:solidFill>
                <a:latin typeface="Arial"/>
                <a:cs typeface="Arial"/>
              </a:rPr>
              <a:t>APAAR ID format checks and verification-status tracking</a:t>
            </a:r>
          </a:p>
          <a:p>
            <a:pPr marL="171450" indent="-171450" algn="l">
              <a:spcBef>
                <a:spcPts val="0"/>
              </a:spcBef>
              <a:spcAft>
                <a:spcPts val="500"/>
              </a:spcAft>
              <a:buClr>
                <a:srgbClr val="D9661A"/>
              </a:buClr>
              <a:buFont typeface="Arial"/>
              <a:buChar char="•"/>
            </a:pPr>
            <a:r>
              <a:rPr lang="en-US" sz="1400" b="0" i="0" dirty="0">
                <a:solidFill>
                  <a:srgbClr val="1F2933"/>
                </a:solidFill>
                <a:latin typeface="Arial"/>
                <a:cs typeface="Arial"/>
              </a:rPr>
              <a:t>Potential duplicate identification; approved intake vs actual enrolment monitoring</a:t>
            </a:r>
          </a:p>
          <a:p>
            <a:pPr marL="171450" indent="-171450" algn="l">
              <a:spcBef>
                <a:spcPts val="0"/>
              </a:spcBef>
              <a:spcAft>
                <a:spcPts val="500"/>
              </a:spcAft>
              <a:buClr>
                <a:srgbClr val="D9661A"/>
              </a:buClr>
              <a:buFont typeface="Arial"/>
              <a:buChar char="•"/>
            </a:pPr>
            <a:r>
              <a:rPr lang="en-US" sz="1400" b="0" i="0" dirty="0">
                <a:solidFill>
                  <a:srgbClr val="1F2933"/>
                </a:solidFill>
                <a:latin typeface="Arial"/>
                <a:cs typeface="Arial"/>
              </a:rPr>
              <a:t>Reports, correction workflows and audit trails</a:t>
            </a:r>
          </a:p>
        </p:txBody>
      </p:sp>
      <p:sp>
        <p:nvSpPr>
          <p:cNvPr id="205" name="Idea card 2 header"/>
          <p:cNvSpPr/>
          <p:nvPr/>
        </p:nvSpPr>
        <p:spPr>
          <a:xfrm>
            <a:off x="4276400" y="1700000"/>
            <a:ext cx="3639200" cy="56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How it addresses the problem</a:t>
            </a:r>
          </a:p>
        </p:txBody>
      </p:sp>
      <p:sp>
        <p:nvSpPr>
          <p:cNvPr id="206" name="Idea card 2 body"/>
          <p:cNvSpPr/>
          <p:nvPr/>
        </p:nvSpPr>
        <p:spPr>
          <a:xfrm>
            <a:off x="4276400" y="2260000"/>
            <a:ext cx="3639200" cy="300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500"/>
              </a:spcAft>
              <a:buClr>
                <a:srgbClr val="D9661A"/>
              </a:buClr>
              <a:buFont typeface="Arial"/>
              <a:buChar char="•"/>
            </a:pPr>
            <a:r>
              <a:rPr lang="en-US" sz="1400" b="1" i="0" dirty="0">
                <a:solidFill>
                  <a:srgbClr val="12385F"/>
                </a:solidFill>
                <a:latin typeface="Arial"/>
                <a:cs typeface="Arial"/>
              </a:rPr>
              <a:t>Different submission mechanisms → </a:t>
            </a:r>
            <a:r>
              <a:rPr lang="en-US" sz="1400" b="0" i="0" dirty="0">
                <a:solidFill>
                  <a:srgbClr val="1F2933"/>
                </a:solidFill>
                <a:latin typeface="Arial"/>
                <a:cs typeface="Arial"/>
              </a:rPr>
              <a:t>one centralized platform</a:t>
            </a:r>
          </a:p>
          <a:p>
            <a:pPr marL="171450" indent="-171450" algn="l">
              <a:spcBef>
                <a:spcPts val="0"/>
              </a:spcBef>
              <a:spcAft>
                <a:spcPts val="500"/>
              </a:spcAft>
              <a:buClr>
                <a:srgbClr val="D9661A"/>
              </a:buClr>
              <a:buFont typeface="Arial"/>
              <a:buChar char="•"/>
            </a:pPr>
            <a:r>
              <a:rPr lang="en-US" sz="1400" b="1" i="0" dirty="0">
                <a:solidFill>
                  <a:srgbClr val="12385F"/>
                </a:solidFill>
                <a:latin typeface="Arial"/>
                <a:cs typeface="Arial"/>
              </a:rPr>
              <a:t>Missing or invalid data → </a:t>
            </a:r>
            <a:r>
              <a:rPr lang="en-US" sz="1400" b="0" i="0" dirty="0">
                <a:solidFill>
                  <a:srgbClr val="1F2933"/>
                </a:solidFill>
                <a:latin typeface="Arial"/>
                <a:cs typeface="Arial"/>
              </a:rPr>
              <a:t>field and format validation with correction workflow</a:t>
            </a:r>
          </a:p>
          <a:p>
            <a:pPr marL="171450" indent="-171450" algn="l">
              <a:spcBef>
                <a:spcPts val="0"/>
              </a:spcBef>
              <a:spcAft>
                <a:spcPts val="500"/>
              </a:spcAft>
              <a:buClr>
                <a:srgbClr val="D9661A"/>
              </a:buClr>
              <a:buFont typeface="Arial"/>
              <a:buChar char="•"/>
            </a:pPr>
            <a:r>
              <a:rPr lang="en-US" sz="1400" b="1" i="0" dirty="0">
                <a:solidFill>
                  <a:srgbClr val="12385F"/>
                </a:solidFill>
                <a:latin typeface="Arial"/>
                <a:cs typeface="Arial"/>
              </a:rPr>
              <a:t>Possible duplicates → </a:t>
            </a:r>
            <a:r>
              <a:rPr lang="en-US" sz="1400" b="0" i="0" dirty="0">
                <a:solidFill>
                  <a:srgbClr val="1F2933"/>
                </a:solidFill>
                <a:latin typeface="Arial"/>
                <a:cs typeface="Arial"/>
              </a:rPr>
              <a:t>candidates flagged for manual review</a:t>
            </a:r>
          </a:p>
          <a:p>
            <a:pPr marL="171450" indent="-171450" algn="l">
              <a:spcBef>
                <a:spcPts val="0"/>
              </a:spcBef>
              <a:spcAft>
                <a:spcPts val="500"/>
              </a:spcAft>
              <a:buClr>
                <a:srgbClr val="D9661A"/>
              </a:buClr>
              <a:buFont typeface="Arial"/>
              <a:buChar char="•"/>
            </a:pPr>
            <a:r>
              <a:rPr lang="en-US" sz="1400" b="1" i="0" dirty="0">
                <a:solidFill>
                  <a:srgbClr val="12385F"/>
                </a:solidFill>
                <a:latin typeface="Arial"/>
                <a:cs typeface="Arial"/>
              </a:rPr>
              <a:t>Limited enrolment visibility → </a:t>
            </a:r>
            <a:r>
              <a:rPr lang="en-US" sz="1400" b="0" i="0" dirty="0">
                <a:solidFill>
                  <a:srgbClr val="1F2933"/>
                </a:solidFill>
                <a:latin typeface="Arial"/>
                <a:cs typeface="Arial"/>
              </a:rPr>
              <a:t>intake vs enrolment dashboard</a:t>
            </a:r>
          </a:p>
        </p:txBody>
      </p:sp>
      <p:sp>
        <p:nvSpPr>
          <p:cNvPr id="207" name="Idea card 3 header"/>
          <p:cNvSpPr/>
          <p:nvPr/>
        </p:nvSpPr>
        <p:spPr>
          <a:xfrm>
            <a:off x="8095600" y="1700000"/>
            <a:ext cx="3639200" cy="56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Innovation and uniqueness of the solution</a:t>
            </a:r>
          </a:p>
        </p:txBody>
      </p:sp>
      <p:sp>
        <p:nvSpPr>
          <p:cNvPr id="208" name="Idea card 3 body"/>
          <p:cNvSpPr/>
          <p:nvPr/>
        </p:nvSpPr>
        <p:spPr>
          <a:xfrm>
            <a:off x="8095600" y="2260000"/>
            <a:ext cx="3639200" cy="300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500"/>
              </a:spcAft>
              <a:buClr>
                <a:srgbClr val="D9661A"/>
              </a:buClr>
              <a:buFont typeface="Arial"/>
              <a:buChar char="•"/>
              <a:defRPr sz="1000">
                <a:solidFill>
                  <a:srgbClr val="212529"/>
                </a:solidFill>
              </a:defRPr>
            </a:pPr>
            <a:r>
              <a:t>Functional working prototype built and tested with Next.js 16 &amp; FastAPI</a:t>
            </a:r>
          </a:p>
          <a:p>
            <a:pPr>
              <a:defRPr sz="1000">
                <a:solidFill>
                  <a:srgbClr val="212529"/>
                </a:solidFill>
              </a:defRPr>
            </a:pPr>
            <a:r>
              <a:t>10-point explainable validation engine checking APAAR format, schema &amp; logic</a:t>
            </a:r>
          </a:p>
          <a:p>
            <a:pPr>
              <a:defRPr sz="1000">
                <a:solidFill>
                  <a:srgbClr val="212529"/>
                </a:solidFill>
              </a:defRPr>
            </a:pPr>
            <a:r>
              <a:t>Rule-based &amp; similarity-based duplicate enrolment detection across institutions</a:t>
            </a:r>
          </a:p>
          <a:p>
            <a:pPr>
              <a:defRPr sz="1000">
                <a:solidFill>
                  <a:srgbClr val="212529"/>
                </a:solidFill>
              </a:defRPr>
            </a:pPr>
            <a:r>
              <a:t>Zero-knowledge QR code public verification with cryptographic tamper-proofing</a:t>
            </a:r>
          </a:p>
          <a:p>
            <a:pPr>
              <a:defRPr sz="1000">
                <a:solidFill>
                  <a:srgbClr val="212529"/>
                </a:solidFill>
              </a:defRPr>
            </a:pPr>
            <a:r>
              <a:t>AI-powered regulatory officer assistant &amp; audit trail with dual REST adapters</a:t>
            </a:r>
          </a:p>
        </p:txBody>
      </p:sp>
      <p:sp>
        <p:nvSpPr>
          <p:cNvPr id="209" name="Problem strip"/>
          <p:cNvSpPr/>
          <p:nvPr/>
        </p:nvSpPr>
        <p:spPr>
          <a:xfrm>
            <a:off x="457200" y="5380000"/>
            <a:ext cx="11277600" cy="850000"/>
          </a:xfrm>
          <a:prstGeom prst="rect">
            <a:avLst/>
          </a:prstGeom>
          <a:solidFill>
            <a:srgbClr val="FDF0E6"/>
          </a:solidFill>
          <a:ln w="9525">
            <a:solidFill>
              <a:srgbClr val="F2C7A5"/>
            </a:solidFill>
          </a:ln>
        </p:spPr>
        <p:txBody>
          <a:bodyPr wrap="square" lIns="182880" tIns="45720" rIns="182880" bIns="45720" rtlCol="0" anchor="ctr">
            <a:noAutofit/>
          </a:bodyPr>
          <a:lstStyle/>
          <a:p>
            <a:pPr marL="0" indent="0" algn="l">
              <a:spcBef>
                <a:spcPts val="0"/>
              </a:spcBef>
              <a:spcAft>
                <a:spcPts val="0"/>
              </a:spcAft>
              <a:buNone/>
            </a:pPr>
            <a:r>
              <a:rPr lang="en-US" sz="1400" b="1" i="0" dirty="0">
                <a:solidFill>
                  <a:srgbClr val="D9661A"/>
                </a:solidFill>
                <a:latin typeface="Arial"/>
                <a:cs typeface="Arial"/>
              </a:rPr>
              <a:t>The problem:  </a:t>
            </a:r>
            <a:r>
              <a:rPr lang="en-US" sz="1400" b="0" i="0" dirty="0">
                <a:solidFill>
                  <a:srgbClr val="1F2933"/>
                </a:solidFill>
                <a:latin typeface="Arial"/>
                <a:cs typeface="Arial"/>
              </a:rPr>
              <a:t>Student data reaches AICTE through different submission mechanisms. Missing information, duplicate records and enrolment inconsistencies may then need manual investigation, and institutions need a more organized way to maintain and review student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b="1" dirty="0"/>
              <a:t>BYTE CODX</a:t>
            </a:r>
            <a:endParaRPr lang="en-IN" b="1" dirty="0"/>
          </a:p>
        </p:txBody>
      </p:sp>
      <p:pic>
        <p:nvPicPr>
          <p:cNvPr id="9" name="Picture 2" descr="https://www.sih.gov.in/img1/SIH-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1366" y="57097"/>
            <a:ext cx="2209120" cy="1122868"/>
          </a:xfrm>
          <a:prstGeom prst="rect">
            <a:avLst/>
          </a:prstGeom>
          <a:noFill/>
          <a:extLst>
            <a:ext uri="{909E8E84-426E-40DD-AFC4-6F175D3DCCD1}">
              <a14:hiddenFill xmlns:a14="http://schemas.microsoft.com/office/drawing/2010/main">
                <a:solidFill>
                  <a:srgbClr val="FFFFFF"/>
                </a:solidFill>
              </a14:hiddenFill>
            </a:ext>
          </a:extLst>
        </p:spPr>
      </p:pic>
      <p:sp>
        <p:nvSpPr>
          <p:cNvPr id="210" name="Heading: Technologies to be used"/>
          <p:cNvSpPr/>
          <p:nvPr/>
        </p:nvSpPr>
        <p:spPr>
          <a:xfrm>
            <a:off x="457200" y="1230000"/>
            <a:ext cx="6000000" cy="36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12385F"/>
                </a:solidFill>
                <a:latin typeface="Arial"/>
                <a:cs typeface="Arial"/>
              </a:rPr>
              <a:t>Technologies to be used</a:t>
            </a:r>
          </a:p>
        </p:txBody>
      </p:sp>
      <p:sp>
        <p:nvSpPr>
          <p:cNvPr id="211" name="Tech tile 1"/>
          <p:cNvSpPr/>
          <p:nvPr/>
        </p:nvSpPr>
        <p:spPr>
          <a:xfrm>
            <a:off x="457200" y="1630000"/>
            <a:ext cx="2706900" cy="10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200"/>
              </a:spcAft>
              <a:buNone/>
              <a:defRPr b="1" sz="1100">
                <a:solidFill>
                  <a:srgbClr val="102A4D"/>
                </a:solidFill>
              </a:defRPr>
            </a:pPr>
            <a:r>
              <a:t>FRONTEND</a:t>
            </a:r>
          </a:p>
          <a:p>
            <a:pPr>
              <a:defRPr sz="950"/>
            </a:pPr>
            <a:r>
              <a:t>Next.js 16 (React 19), TypeScript</a:t>
            </a:r>
          </a:p>
          <a:p>
            <a:pPr>
              <a:defRPr sz="850">
                <a:solidFill>
                  <a:srgbClr val="6C757D"/>
                </a:solidFill>
              </a:defRPr>
            </a:pPr>
            <a:r>
              <a:t>Tailwind CSS v4, Recharts, Lucide Icons, Mobile Responsive</a:t>
            </a:r>
          </a:p>
        </p:txBody>
      </p:sp>
      <p:sp>
        <p:nvSpPr>
          <p:cNvPr id="212" name="Tech tile 2"/>
          <p:cNvSpPr/>
          <p:nvPr/>
        </p:nvSpPr>
        <p:spPr>
          <a:xfrm>
            <a:off x="3314100" y="1630000"/>
            <a:ext cx="2706900" cy="10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200"/>
              </a:spcAft>
              <a:buNone/>
              <a:defRPr b="1" sz="1100">
                <a:solidFill>
                  <a:srgbClr val="102A4D"/>
                </a:solidFill>
              </a:defRPr>
            </a:pPr>
            <a:r>
              <a:t>BACKEND</a:t>
            </a:r>
          </a:p>
          <a:p>
            <a:pPr>
              <a:defRPr sz="950"/>
            </a:pPr>
            <a:r>
              <a:t>FastAPI, Python 3.12, Uvicorn</a:t>
            </a:r>
          </a:p>
          <a:p>
            <a:pPr>
              <a:defRPr sz="850">
                <a:solidFill>
                  <a:srgbClr val="6C757D"/>
                </a:solidFill>
              </a:defRPr>
            </a:pPr>
            <a:r>
              <a:t>10-Point Validation Pipeline, Anomaly Detector, RBAC Security</a:t>
            </a:r>
          </a:p>
        </p:txBody>
      </p:sp>
      <p:sp>
        <p:nvSpPr>
          <p:cNvPr id="213" name="Tech tile 3"/>
          <p:cNvSpPr/>
          <p:nvPr/>
        </p:nvSpPr>
        <p:spPr>
          <a:xfrm>
            <a:off x="6171000" y="1630000"/>
            <a:ext cx="2706900" cy="10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200"/>
              </a:spcAft>
              <a:buNone/>
              <a:defRPr b="1" sz="1100">
                <a:solidFill>
                  <a:srgbClr val="102A4D"/>
                </a:solidFill>
              </a:defRPr>
            </a:pPr>
            <a:r>
              <a:t>DATABASE</a:t>
            </a:r>
          </a:p>
          <a:p>
            <a:pPr>
              <a:defRPr sz="950"/>
            </a:pPr>
            <a:r>
              <a:t>PostgreSQL / SQLite, SQLAlchemy</a:t>
            </a:r>
          </a:p>
          <a:p>
            <a:pPr>
              <a:defRPr sz="850">
                <a:solidFill>
                  <a:srgbClr val="6C757D"/>
                </a:solidFill>
              </a:defRPr>
            </a:pPr>
            <a:r>
              <a:t>Normalized multi-tenant tables, indexed audit trails, auto-seeding</a:t>
            </a:r>
          </a:p>
        </p:txBody>
      </p:sp>
      <p:sp>
        <p:nvSpPr>
          <p:cNvPr id="214" name="Tech tile 4"/>
          <p:cNvSpPr/>
          <p:nvPr/>
        </p:nvSpPr>
        <p:spPr>
          <a:xfrm>
            <a:off x="9027900" y="1630000"/>
            <a:ext cx="2706900" cy="10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200"/>
              </a:spcAft>
              <a:buNone/>
              <a:defRPr b="1" sz="1100">
                <a:solidFill>
                  <a:srgbClr val="102A4D"/>
                </a:solidFill>
              </a:defRPr>
            </a:pPr>
            <a:r>
              <a:t>INTEGRATION</a:t>
            </a:r>
          </a:p>
          <a:p>
            <a:pPr>
              <a:defRPr sz="950"/>
            </a:pPr>
            <a:r>
              <a:t>REST APIs &amp; Public QR Portal</a:t>
            </a:r>
          </a:p>
          <a:p>
            <a:pPr>
              <a:defRPr sz="850">
                <a:solidFill>
                  <a:srgbClr val="6C757D"/>
                </a:solidFill>
              </a:defRPr>
            </a:pPr>
            <a:r>
              <a:t>Tamper-evident verification, mock &amp; live production APAAR adapters</a:t>
            </a:r>
          </a:p>
        </p:txBody>
      </p:sp>
      <p:sp>
        <p:nvSpPr>
          <p:cNvPr id="215" name="Heading: Methodology and process for im"/>
          <p:cNvSpPr/>
          <p:nvPr/>
        </p:nvSpPr>
        <p:spPr>
          <a:xfrm>
            <a:off x="457200" y="2830000"/>
            <a:ext cx="9000000" cy="36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12385F"/>
                </a:solidFill>
                <a:latin typeface="Arial"/>
                <a:cs typeface="Arial"/>
              </a:rPr>
              <a:t>Methodology and process for implementation</a:t>
            </a:r>
          </a:p>
        </p:txBody>
      </p:sp>
      <p:sp>
        <p:nvSpPr>
          <p:cNvPr id="216" name="Step 1 header"/>
          <p:cNvSpPr/>
          <p:nvPr/>
        </p:nvSpPr>
        <p:spPr>
          <a:xfrm>
            <a:off x="457200"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1  </a:t>
            </a:r>
            <a:r>
              <a:rPr lang="en-US" sz="1300" b="1" i="0" dirty="0">
                <a:solidFill>
                  <a:srgbClr val="FFFFFF"/>
                </a:solidFill>
                <a:latin typeface="Arial"/>
                <a:cs typeface="Arial"/>
              </a:rPr>
              <a:t>Login + Upload</a:t>
            </a:r>
          </a:p>
        </p:txBody>
      </p:sp>
      <p:sp>
        <p:nvSpPr>
          <p:cNvPr id="217" name="Step 1 body"/>
          <p:cNvSpPr/>
          <p:nvPr/>
        </p:nvSpPr>
        <p:spPr>
          <a:xfrm>
            <a:off x="457200"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Institution user signs in and uploads student data</a:t>
            </a:r>
          </a:p>
        </p:txBody>
      </p:sp>
      <p:sp>
        <p:nvSpPr>
          <p:cNvPr id="218" name="Step 2 header"/>
          <p:cNvSpPr/>
          <p:nvPr/>
        </p:nvSpPr>
        <p:spPr>
          <a:xfrm>
            <a:off x="2355133"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2  </a:t>
            </a:r>
            <a:r>
              <a:rPr lang="en-US" sz="1300" b="1" i="0" dirty="0">
                <a:solidFill>
                  <a:srgbClr val="FFFFFF"/>
                </a:solidFill>
                <a:latin typeface="Arial"/>
                <a:cs typeface="Arial"/>
              </a:rPr>
              <a:t>Validate Records</a:t>
            </a:r>
          </a:p>
        </p:txBody>
      </p:sp>
      <p:sp>
        <p:nvSpPr>
          <p:cNvPr id="219" name="Step 2 body"/>
          <p:cNvSpPr/>
          <p:nvPr/>
        </p:nvSpPr>
        <p:spPr>
          <a:xfrm>
            <a:off x="2355133"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Field, format and consistency checks on every record</a:t>
            </a:r>
          </a:p>
        </p:txBody>
      </p:sp>
      <p:sp>
        <p:nvSpPr>
          <p:cNvPr id="220" name="Step 3 header"/>
          <p:cNvSpPr/>
          <p:nvPr/>
        </p:nvSpPr>
        <p:spPr>
          <a:xfrm>
            <a:off x="4253066"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3  </a:t>
            </a:r>
            <a:r>
              <a:rPr lang="en-US" sz="1300" b="1" i="0" dirty="0">
                <a:solidFill>
                  <a:srgbClr val="FFFFFF"/>
                </a:solidFill>
                <a:latin typeface="Arial"/>
                <a:cs typeface="Arial"/>
              </a:rPr>
              <a:t>Flag Issues</a:t>
            </a:r>
          </a:p>
        </p:txBody>
      </p:sp>
      <p:sp>
        <p:nvSpPr>
          <p:cNvPr id="221" name="Step 3 body"/>
          <p:cNvSpPr/>
          <p:nvPr/>
        </p:nvSpPr>
        <p:spPr>
          <a:xfrm>
            <a:off x="4253066"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Errors and potential duplicates flagged for review</a:t>
            </a:r>
          </a:p>
        </p:txBody>
      </p:sp>
      <p:sp>
        <p:nvSpPr>
          <p:cNvPr id="222" name="Step 4 header"/>
          <p:cNvSpPr/>
          <p:nvPr/>
        </p:nvSpPr>
        <p:spPr>
          <a:xfrm>
            <a:off x="6150999"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4  </a:t>
            </a:r>
            <a:r>
              <a:rPr lang="en-US" sz="1300" b="1" i="0" dirty="0">
                <a:solidFill>
                  <a:srgbClr val="FFFFFF"/>
                </a:solidFill>
                <a:latin typeface="Arial"/>
                <a:cs typeface="Arial"/>
              </a:rPr>
              <a:t>Review + Correct</a:t>
            </a:r>
          </a:p>
        </p:txBody>
      </p:sp>
      <p:sp>
        <p:nvSpPr>
          <p:cNvPr id="223" name="Step 4 body"/>
          <p:cNvSpPr/>
          <p:nvPr/>
        </p:nvSpPr>
        <p:spPr>
          <a:xfrm>
            <a:off x="6150999"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Correction requests; invalid records go back for re-validation</a:t>
            </a:r>
          </a:p>
        </p:txBody>
      </p:sp>
      <p:sp>
        <p:nvSpPr>
          <p:cNvPr id="224" name="Step 5 header"/>
          <p:cNvSpPr/>
          <p:nvPr/>
        </p:nvSpPr>
        <p:spPr>
          <a:xfrm>
            <a:off x="8048932"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5  </a:t>
            </a:r>
            <a:r>
              <a:rPr lang="en-US" sz="1300" b="1" i="0" dirty="0">
                <a:solidFill>
                  <a:srgbClr val="FFFFFF"/>
                </a:solidFill>
                <a:latin typeface="Arial"/>
                <a:cs typeface="Arial"/>
              </a:rPr>
              <a:t>Verification Status</a:t>
            </a:r>
          </a:p>
        </p:txBody>
      </p:sp>
      <p:sp>
        <p:nvSpPr>
          <p:cNvPr id="225" name="Step 5 body"/>
          <p:cNvSpPr/>
          <p:nvPr/>
        </p:nvSpPr>
        <p:spPr>
          <a:xfrm>
            <a:off x="8048932"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Pending, In Review, Verified, Failed; official check needs an authorized API</a:t>
            </a:r>
          </a:p>
        </p:txBody>
      </p:sp>
      <p:sp>
        <p:nvSpPr>
          <p:cNvPr id="226" name="Step 6 header"/>
          <p:cNvSpPr/>
          <p:nvPr/>
        </p:nvSpPr>
        <p:spPr>
          <a:xfrm>
            <a:off x="9946865" y="3260000"/>
            <a:ext cx="1787933" cy="640000"/>
          </a:xfrm>
          <a:prstGeom prst="homePlate">
            <a:avLst>
              <a:gd name="adj" fmla="val 30000"/>
            </a:avLst>
          </a:prstGeom>
          <a:solidFill>
            <a:srgbClr val="0070C0"/>
          </a:solidFill>
          <a:ln>
            <a:noFill/>
          </a:ln>
        </p:spPr>
        <p:txBody>
          <a:bodyPr wrap="square" lIns="91440" tIns="18288" rIns="228600" bIns="18288" rtlCol="0" anchor="ctr">
            <a:noAutofit/>
          </a:bodyPr>
          <a:lstStyle/>
          <a:p>
            <a:pPr marL="0" indent="0" algn="l">
              <a:spcBef>
                <a:spcPts val="0"/>
              </a:spcBef>
              <a:spcAft>
                <a:spcPts val="0"/>
              </a:spcAft>
              <a:buNone/>
            </a:pPr>
            <a:r>
              <a:rPr lang="en-US" sz="1500" b="1" i="0" dirty="0">
                <a:solidFill>
                  <a:srgbClr val="FFD9B8"/>
                </a:solidFill>
                <a:latin typeface="Arial"/>
                <a:cs typeface="Arial"/>
              </a:rPr>
              <a:t>6  </a:t>
            </a:r>
            <a:r>
              <a:rPr lang="en-US" sz="1300" b="1" i="0" dirty="0">
                <a:solidFill>
                  <a:srgbClr val="FFFFFF"/>
                </a:solidFill>
                <a:latin typeface="Arial"/>
                <a:cs typeface="Arial"/>
              </a:rPr>
              <a:t>Monitor + Report</a:t>
            </a:r>
          </a:p>
        </p:txBody>
      </p:sp>
      <p:sp>
        <p:nvSpPr>
          <p:cNvPr id="227" name="Step 6 body"/>
          <p:cNvSpPr/>
          <p:nvPr/>
        </p:nvSpPr>
        <p:spPr>
          <a:xfrm>
            <a:off x="9946865" y="3960000"/>
            <a:ext cx="1787933" cy="1420000"/>
          </a:xfrm>
          <a:prstGeom prst="rect">
            <a:avLst/>
          </a:prstGeom>
          <a:solidFill>
            <a:srgbClr val="EAF3FB"/>
          </a:solidFill>
          <a:ln w="9525">
            <a:solidFill>
              <a:srgbClr val="BCD6EE"/>
            </a:solidFill>
          </a:ln>
        </p:spPr>
        <p:txBody>
          <a:bodyPr wrap="square" lIns="91440" tIns="91440" rIns="73152" bIns="45720" rtlCol="0" anchor="t">
            <a:noAutofit/>
          </a:bodyPr>
          <a:lstStyle/>
          <a:p>
            <a:pPr marL="0" indent="0" algn="l">
              <a:spcBef>
                <a:spcPts val="0"/>
              </a:spcBef>
              <a:spcAft>
                <a:spcPts val="0"/>
              </a:spcAft>
              <a:buNone/>
            </a:pPr>
            <a:r>
              <a:rPr lang="en-US" sz="1400" b="0" i="0" dirty="0">
                <a:solidFill>
                  <a:srgbClr val="1F2933"/>
                </a:solidFill>
                <a:latin typeface="Arial"/>
                <a:cs typeface="Arial"/>
              </a:rPr>
              <a:t>Intake vs enrolment dashboard and reports, with audit trail</a:t>
            </a:r>
          </a:p>
        </p:txBody>
      </p:sp>
      <p:sp>
        <p:nvSpPr>
          <p:cNvPr id="228" name="Cross-cutting bar"/>
          <p:cNvSpPr/>
          <p:nvPr/>
        </p:nvSpPr>
        <p:spPr>
          <a:xfrm>
            <a:off x="457200" y="5560000"/>
            <a:ext cx="11277600" cy="560000"/>
          </a:xfrm>
          <a:prstGeom prst="rect">
            <a:avLst/>
          </a:prstGeom>
          <a:solidFill>
            <a:srgbClr val="12385F"/>
          </a:solidFill>
          <a:ln>
            <a:noFill/>
          </a:ln>
        </p:spPr>
        <p:txBody>
          <a:bodyPr wrap="square" lIns="91440" tIns="45720" rIns="91440" bIns="45720" rtlCol="0" anchor="ctr">
            <a:noAutofit/>
          </a:bodyPr>
          <a:lstStyle/>
          <a:p>
            <a:pPr marL="0" indent="0" algn="ctr">
              <a:spcBef>
                <a:spcPts val="0"/>
              </a:spcBef>
              <a:spcAft>
                <a:spcPts val="0"/>
              </a:spcAft>
              <a:buNone/>
              <a:defRPr sz="1000" b="1">
                <a:solidFill>
                  <a:srgbClr val="102A4D"/>
                </a:solidFill>
              </a:defRPr>
            </a:pPr>
            <a:r>
              <a:t>Across every step: Role-based isolation, tamper-evident audit logs | Tested prototype with live API &amp; demo video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b="1" dirty="0"/>
              <a:t>BYTE CODX</a:t>
            </a:r>
            <a:endParaRPr lang="en-IN" b="1" dirty="0"/>
          </a:p>
        </p:txBody>
      </p:sp>
      <p:pic>
        <p:nvPicPr>
          <p:cNvPr id="9" name="Picture 2" descr="https://www.sih.gov.in/img1/SIH-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1366" y="57097"/>
            <a:ext cx="2209120" cy="1122868"/>
          </a:xfrm>
          <a:prstGeom prst="rect">
            <a:avLst/>
          </a:prstGeom>
          <a:noFill/>
          <a:extLst>
            <a:ext uri="{909E8E84-426E-40DD-AFC4-6F175D3DCCD1}">
              <a14:hiddenFill xmlns:a14="http://schemas.microsoft.com/office/drawing/2010/main">
                <a:solidFill>
                  <a:srgbClr val="FFFFFF"/>
                </a:solidFill>
              </a14:hiddenFill>
            </a:ext>
          </a:extLst>
        </p:spPr>
      </p:pic>
      <p:sp>
        <p:nvSpPr>
          <p:cNvPr id="229" name="Feasibility header"/>
          <p:cNvSpPr/>
          <p:nvPr/>
        </p:nvSpPr>
        <p:spPr>
          <a:xfrm>
            <a:off x="457200" y="1230000"/>
            <a:ext cx="3500000" cy="70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Analysis of the feasibility of the idea</a:t>
            </a:r>
          </a:p>
        </p:txBody>
      </p:sp>
      <p:sp>
        <p:nvSpPr>
          <p:cNvPr id="230" name="Feasibility body"/>
          <p:cNvSpPr/>
          <p:nvPr/>
        </p:nvSpPr>
        <p:spPr>
          <a:xfrm>
            <a:off x="457200" y="1930000"/>
            <a:ext cx="3500000" cy="429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1500"/>
              </a:spcAft>
              <a:buClr>
                <a:srgbClr val="D9661A"/>
              </a:buClr>
              <a:buFont typeface="Arial"/>
              <a:buChar char="•"/>
            </a:pPr>
            <a:r>
              <a:rPr lang="en-US" sz="1600" b="1" i="0" dirty="0">
                <a:solidFill>
                  <a:srgbClr val="12385F"/>
                </a:solidFill>
                <a:latin typeface="Arial"/>
                <a:cs typeface="Arial"/>
              </a:rPr>
              <a:t>Technical: </a:t>
            </a:r>
            <a:r>
              <a:rPr lang="en-US" sz="1600" b="0" i="0" dirty="0">
                <a:solidFill>
                  <a:srgbClr val="1F2933"/>
                </a:solidFill>
                <a:latin typeface="Arial"/>
                <a:cs typeface="Arial"/>
              </a:rPr>
              <a:t>standard web stack – Next.js, FastAPI, PostgreSQL</a:t>
            </a:r>
          </a:p>
          <a:p>
            <a:pPr marL="171450" indent="-171450" algn="l">
              <a:spcBef>
                <a:spcPts val="0"/>
              </a:spcBef>
              <a:spcAft>
                <a:spcPts val="1500"/>
              </a:spcAft>
              <a:buClr>
                <a:srgbClr val="D9661A"/>
              </a:buClr>
              <a:buFont typeface="Arial"/>
              <a:buChar char="•"/>
            </a:pPr>
            <a:r>
              <a:rPr lang="en-US" sz="1600" b="1" i="0" dirty="0">
                <a:solidFill>
                  <a:srgbClr val="12385F"/>
                </a:solidFill>
                <a:latin typeface="Arial"/>
                <a:cs typeface="Arial"/>
              </a:rPr>
              <a:t>Data: </a:t>
            </a:r>
            <a:r>
              <a:rPr lang="en-US" sz="1600" b="0" i="0" dirty="0">
                <a:solidFill>
                  <a:srgbClr val="1F2933"/>
                </a:solidFill>
                <a:latin typeface="Arial"/>
                <a:cs typeface="Arial"/>
              </a:rPr>
              <a:t>validated institutional uploads with APAAR ID format checks</a:t>
            </a:r>
          </a:p>
          <a:p>
            <a:pPr marL="171450" indent="-171450" algn="l">
              <a:spcBef>
                <a:spcPts val="0"/>
              </a:spcBef>
              <a:spcAft>
                <a:spcPts val="1500"/>
              </a:spcAft>
              <a:buClr>
                <a:srgbClr val="D9661A"/>
              </a:buClr>
              <a:buFont typeface="Arial"/>
              <a:buChar char="•"/>
            </a:pPr>
            <a:r>
              <a:rPr lang="en-US" sz="1600" b="1" i="0" dirty="0">
                <a:solidFill>
                  <a:srgbClr val="12385F"/>
                </a:solidFill>
                <a:latin typeface="Arial"/>
                <a:cs typeface="Arial"/>
              </a:rPr>
              <a:t>Operational: </a:t>
            </a:r>
            <a:r>
              <a:rPr lang="en-US" sz="1600" b="0" i="0" dirty="0">
                <a:solidFill>
                  <a:srgbClr val="1F2933"/>
                </a:solidFill>
                <a:latin typeface="Arial"/>
                <a:cs typeface="Arial"/>
              </a:rPr>
              <a:t>import templates and role-based screens fit institution workflows</a:t>
            </a:r>
          </a:p>
          <a:p>
            <a:pPr marL="171450" indent="-171450" algn="l">
              <a:spcBef>
                <a:spcPts val="0"/>
              </a:spcBef>
              <a:spcAft>
                <a:spcPts val="1500"/>
              </a:spcAft>
              <a:buClr>
                <a:srgbClr val="D9661A"/>
              </a:buClr>
              <a:buFont typeface="Arial"/>
              <a:buChar char="•"/>
            </a:pPr>
            <a:r>
              <a:rPr lang="en-US" sz="1600" b="1" i="0" dirty="0">
                <a:solidFill>
                  <a:srgbClr val="12385F"/>
                </a:solidFill>
                <a:latin typeface="Arial"/>
                <a:cs typeface="Arial"/>
              </a:rPr>
              <a:t>Verification: </a:t>
            </a:r>
            <a:r>
              <a:rPr lang="en-US" sz="1600" b="0" i="0" dirty="0">
                <a:solidFill>
                  <a:srgbClr val="1F2933"/>
                </a:solidFill>
                <a:latin typeface="Arial"/>
                <a:cs typeface="Arial"/>
              </a:rPr>
              <a:t>official APAAR checks only through an authorized service; until then, a status-tracking workflow</a:t>
            </a:r>
          </a:p>
        </p:txBody>
      </p:sp>
      <p:sp>
        <p:nvSpPr>
          <p:cNvPr id="231" name="Risks header"/>
          <p:cNvSpPr/>
          <p:nvPr/>
        </p:nvSpPr>
        <p:spPr>
          <a:xfrm>
            <a:off x="4157200" y="1230000"/>
            <a:ext cx="3623800" cy="700000"/>
          </a:xfrm>
          <a:prstGeom prst="rect">
            <a:avLst/>
          </a:prstGeom>
          <a:solidFill>
            <a:srgbClr val="D9661A"/>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Potential challenges and risks</a:t>
            </a:r>
          </a:p>
        </p:txBody>
      </p:sp>
      <p:sp>
        <p:nvSpPr>
          <p:cNvPr id="232" name="Strategies header"/>
          <p:cNvSpPr/>
          <p:nvPr/>
        </p:nvSpPr>
        <p:spPr>
          <a:xfrm>
            <a:off x="8111000" y="1230000"/>
            <a:ext cx="3623800" cy="70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500" b="1" i="0" dirty="0">
                <a:solidFill>
                  <a:srgbClr val="FFFFFF"/>
                </a:solidFill>
                <a:latin typeface="Arial"/>
                <a:cs typeface="Arial"/>
              </a:rPr>
              <a:t>Strategies for overcoming these challenges</a:t>
            </a:r>
          </a:p>
        </p:txBody>
      </p:sp>
      <p:sp>
        <p:nvSpPr>
          <p:cNvPr id="233" name="Risk 1"/>
          <p:cNvSpPr/>
          <p:nvPr/>
        </p:nvSpPr>
        <p:spPr>
          <a:xfrm>
            <a:off x="4157200" y="2010000"/>
            <a:ext cx="3623800" cy="780000"/>
          </a:xfrm>
          <a:prstGeom prst="rect">
            <a:avLst/>
          </a:prstGeom>
          <a:solidFill>
            <a:srgbClr val="FDF0E6"/>
          </a:solidFill>
          <a:ln w="9525">
            <a:solidFill>
              <a:srgbClr val="F2C7A5"/>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Incomplete student records</a:t>
            </a:r>
          </a:p>
        </p:txBody>
      </p:sp>
      <p:sp>
        <p:nvSpPr>
          <p:cNvPr id="234" name="Arrow 1"/>
          <p:cNvSpPr/>
          <p:nvPr/>
        </p:nvSpPr>
        <p:spPr>
          <a:xfrm>
            <a:off x="7831000" y="2290000"/>
            <a:ext cx="230000" cy="220000"/>
          </a:xfrm>
          <a:prstGeom prst="rightArrow">
            <a:avLst/>
          </a:prstGeom>
          <a:solidFill>
            <a:srgbClr val="D9661A"/>
          </a:solidFill>
          <a:ln>
            <a:noFill/>
          </a:ln>
        </p:spPr>
        <p:txBody>
          <a:bodyPr wrap="square" lIns="91440" tIns="45720" rIns="91440" bIns="45720" rtlCol="0" anchor="t">
            <a:noAutofit/>
          </a:bodyPr>
          <a:lstStyle/>
          <a:p>
            <a:endParaRPr lang="en-US" dirty="0"/>
          </a:p>
        </p:txBody>
      </p:sp>
      <p:sp>
        <p:nvSpPr>
          <p:cNvPr id="235" name="Strategy 1"/>
          <p:cNvSpPr/>
          <p:nvPr/>
        </p:nvSpPr>
        <p:spPr>
          <a:xfrm>
            <a:off x="8111000" y="2010000"/>
            <a:ext cx="3623800" cy="7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Required-field checks and correction requests</a:t>
            </a:r>
          </a:p>
        </p:txBody>
      </p:sp>
      <p:sp>
        <p:nvSpPr>
          <p:cNvPr id="236" name="Risk 2"/>
          <p:cNvSpPr/>
          <p:nvPr/>
        </p:nvSpPr>
        <p:spPr>
          <a:xfrm>
            <a:off x="4157200" y="2865000"/>
            <a:ext cx="3623800" cy="780000"/>
          </a:xfrm>
          <a:prstGeom prst="rect">
            <a:avLst/>
          </a:prstGeom>
          <a:solidFill>
            <a:srgbClr val="FDF0E6"/>
          </a:solidFill>
          <a:ln w="9525">
            <a:solidFill>
              <a:srgbClr val="F2C7A5"/>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Duplicate student entries</a:t>
            </a:r>
          </a:p>
        </p:txBody>
      </p:sp>
      <p:sp>
        <p:nvSpPr>
          <p:cNvPr id="237" name="Arrow 2"/>
          <p:cNvSpPr/>
          <p:nvPr/>
        </p:nvSpPr>
        <p:spPr>
          <a:xfrm>
            <a:off x="7831000" y="3145000"/>
            <a:ext cx="230000" cy="220000"/>
          </a:xfrm>
          <a:prstGeom prst="rightArrow">
            <a:avLst/>
          </a:prstGeom>
          <a:solidFill>
            <a:srgbClr val="D9661A"/>
          </a:solidFill>
          <a:ln>
            <a:noFill/>
          </a:ln>
        </p:spPr>
        <p:txBody>
          <a:bodyPr wrap="square" lIns="91440" tIns="45720" rIns="91440" bIns="45720" rtlCol="0" anchor="t">
            <a:noAutofit/>
          </a:bodyPr>
          <a:lstStyle/>
          <a:p>
            <a:endParaRPr lang="en-US" dirty="0"/>
          </a:p>
        </p:txBody>
      </p:sp>
      <p:sp>
        <p:nvSpPr>
          <p:cNvPr id="238" name="Strategy 2"/>
          <p:cNvSpPr/>
          <p:nvPr/>
        </p:nvSpPr>
        <p:spPr>
          <a:xfrm>
            <a:off x="8111000" y="2865000"/>
            <a:ext cx="3623800" cy="7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Duplicate candidate detection and manual review</a:t>
            </a:r>
          </a:p>
        </p:txBody>
      </p:sp>
      <p:sp>
        <p:nvSpPr>
          <p:cNvPr id="239" name="Risk 3"/>
          <p:cNvSpPr/>
          <p:nvPr/>
        </p:nvSpPr>
        <p:spPr>
          <a:xfrm>
            <a:off x="4157200" y="3720000"/>
            <a:ext cx="3623800" cy="780000"/>
          </a:xfrm>
          <a:prstGeom prst="rect">
            <a:avLst/>
          </a:prstGeom>
          <a:solidFill>
            <a:srgbClr val="FDF0E6"/>
          </a:solidFill>
          <a:ln w="9525">
            <a:solidFill>
              <a:srgbClr val="F2C7A5"/>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Different data formats</a:t>
            </a:r>
          </a:p>
        </p:txBody>
      </p:sp>
      <p:sp>
        <p:nvSpPr>
          <p:cNvPr id="240" name="Arrow 3"/>
          <p:cNvSpPr/>
          <p:nvPr/>
        </p:nvSpPr>
        <p:spPr>
          <a:xfrm>
            <a:off x="7831000" y="4000000"/>
            <a:ext cx="230000" cy="220000"/>
          </a:xfrm>
          <a:prstGeom prst="rightArrow">
            <a:avLst/>
          </a:prstGeom>
          <a:solidFill>
            <a:srgbClr val="D9661A"/>
          </a:solidFill>
          <a:ln>
            <a:noFill/>
          </a:ln>
        </p:spPr>
        <p:txBody>
          <a:bodyPr wrap="square" lIns="91440" tIns="45720" rIns="91440" bIns="45720" rtlCol="0" anchor="t">
            <a:noAutofit/>
          </a:bodyPr>
          <a:lstStyle/>
          <a:p>
            <a:endParaRPr lang="en-US" dirty="0"/>
          </a:p>
        </p:txBody>
      </p:sp>
      <p:sp>
        <p:nvSpPr>
          <p:cNvPr id="241" name="Strategy 3"/>
          <p:cNvSpPr/>
          <p:nvPr/>
        </p:nvSpPr>
        <p:spPr>
          <a:xfrm>
            <a:off x="8111000" y="3720000"/>
            <a:ext cx="3623800" cy="7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Standardized import templates and validation rules</a:t>
            </a:r>
          </a:p>
        </p:txBody>
      </p:sp>
      <p:sp>
        <p:nvSpPr>
          <p:cNvPr id="242" name="Risk 4"/>
          <p:cNvSpPr/>
          <p:nvPr/>
        </p:nvSpPr>
        <p:spPr>
          <a:xfrm>
            <a:off x="4157200" y="4575000"/>
            <a:ext cx="3623800" cy="780000"/>
          </a:xfrm>
          <a:prstGeom prst="rect">
            <a:avLst/>
          </a:prstGeom>
          <a:solidFill>
            <a:srgbClr val="FDF0E6"/>
          </a:solidFill>
          <a:ln w="9525">
            <a:solidFill>
              <a:srgbClr val="F2C7A5"/>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Verification-service access</a:t>
            </a:r>
          </a:p>
        </p:txBody>
      </p:sp>
      <p:sp>
        <p:nvSpPr>
          <p:cNvPr id="243" name="Arrow 4"/>
          <p:cNvSpPr/>
          <p:nvPr/>
        </p:nvSpPr>
        <p:spPr>
          <a:xfrm>
            <a:off x="7831000" y="4855000"/>
            <a:ext cx="230000" cy="220000"/>
          </a:xfrm>
          <a:prstGeom prst="rightArrow">
            <a:avLst/>
          </a:prstGeom>
          <a:solidFill>
            <a:srgbClr val="D9661A"/>
          </a:solidFill>
          <a:ln>
            <a:noFill/>
          </a:ln>
        </p:spPr>
        <p:txBody>
          <a:bodyPr wrap="square" lIns="91440" tIns="45720" rIns="91440" bIns="45720" rtlCol="0" anchor="t">
            <a:noAutofit/>
          </a:bodyPr>
          <a:lstStyle/>
          <a:p>
            <a:endParaRPr lang="en-US" dirty="0"/>
          </a:p>
        </p:txBody>
      </p:sp>
      <p:sp>
        <p:nvSpPr>
          <p:cNvPr id="244" name="Strategy 4"/>
          <p:cNvSpPr/>
          <p:nvPr/>
        </p:nvSpPr>
        <p:spPr>
          <a:xfrm>
            <a:off x="8111000" y="4575000"/>
            <a:ext cx="3623800" cy="7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Integration through an authorized API or approved verification mechanism</a:t>
            </a:r>
          </a:p>
        </p:txBody>
      </p:sp>
      <p:sp>
        <p:nvSpPr>
          <p:cNvPr id="245" name="Risk 5"/>
          <p:cNvSpPr/>
          <p:nvPr/>
        </p:nvSpPr>
        <p:spPr>
          <a:xfrm>
            <a:off x="4157200" y="5430000"/>
            <a:ext cx="3623800" cy="780000"/>
          </a:xfrm>
          <a:prstGeom prst="rect">
            <a:avLst/>
          </a:prstGeom>
          <a:solidFill>
            <a:srgbClr val="FDF0E6"/>
          </a:solidFill>
          <a:ln w="9525">
            <a:solidFill>
              <a:srgbClr val="F2C7A5"/>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Sensitive student information</a:t>
            </a:r>
          </a:p>
        </p:txBody>
      </p:sp>
      <p:sp>
        <p:nvSpPr>
          <p:cNvPr id="246" name="Arrow 5"/>
          <p:cNvSpPr/>
          <p:nvPr/>
        </p:nvSpPr>
        <p:spPr>
          <a:xfrm>
            <a:off x="7831000" y="5710000"/>
            <a:ext cx="230000" cy="220000"/>
          </a:xfrm>
          <a:prstGeom prst="rightArrow">
            <a:avLst/>
          </a:prstGeom>
          <a:solidFill>
            <a:srgbClr val="D9661A"/>
          </a:solidFill>
          <a:ln>
            <a:noFill/>
          </a:ln>
        </p:spPr>
        <p:txBody>
          <a:bodyPr wrap="square" lIns="91440" tIns="45720" rIns="91440" bIns="45720" rtlCol="0" anchor="t">
            <a:noAutofit/>
          </a:bodyPr>
          <a:lstStyle/>
          <a:p>
            <a:endParaRPr lang="en-US" dirty="0"/>
          </a:p>
        </p:txBody>
      </p:sp>
      <p:sp>
        <p:nvSpPr>
          <p:cNvPr id="247" name="Strategy 5"/>
          <p:cNvSpPr/>
          <p:nvPr/>
        </p:nvSpPr>
        <p:spPr>
          <a:xfrm>
            <a:off x="8111000" y="5430000"/>
            <a:ext cx="3623800" cy="780000"/>
          </a:xfrm>
          <a:prstGeom prst="rect">
            <a:avLst/>
          </a:prstGeom>
          <a:solidFill>
            <a:srgbClr val="EAF3FB"/>
          </a:solidFill>
          <a:ln w="9525">
            <a:solidFill>
              <a:srgbClr val="BCD6EE"/>
            </a:solidFill>
          </a:ln>
        </p:spPr>
        <p:txBody>
          <a:bodyPr wrap="square" lIns="137160" tIns="45720" rIns="91440" bIns="45720" rtlCol="0" anchor="ctr">
            <a:noAutofit/>
          </a:bodyPr>
          <a:lstStyle/>
          <a:p>
            <a:pPr marL="0" indent="0" algn="l">
              <a:spcBef>
                <a:spcPts val="0"/>
              </a:spcBef>
              <a:spcAft>
                <a:spcPts val="0"/>
              </a:spcAft>
              <a:buNone/>
            </a:pPr>
            <a:r>
              <a:rPr lang="en-US" sz="1500" b="0" i="0" dirty="0">
                <a:solidFill>
                  <a:srgbClr val="1F2933"/>
                </a:solidFill>
                <a:latin typeface="Arial"/>
                <a:cs typeface="Arial"/>
              </a:rPr>
              <a:t>Access controls, secure storage and audit logging</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b="1" dirty="0"/>
              <a:t>BYTE CODX</a:t>
            </a:r>
            <a:endParaRPr lang="en-IN" b="1" dirty="0"/>
          </a:p>
        </p:txBody>
      </p:sp>
      <p:pic>
        <p:nvPicPr>
          <p:cNvPr id="9" name="Picture 2" descr="https://www.sih.gov.in/img1/SIH-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1366" y="57097"/>
            <a:ext cx="2209120" cy="1122868"/>
          </a:xfrm>
          <a:prstGeom prst="rect">
            <a:avLst/>
          </a:prstGeom>
          <a:noFill/>
          <a:extLst>
            <a:ext uri="{909E8E84-426E-40DD-AFC4-6F175D3DCCD1}">
              <a14:hiddenFill xmlns:a14="http://schemas.microsoft.com/office/drawing/2010/main">
                <a:solidFill>
                  <a:srgbClr val="FFFFFF"/>
                </a:solidFill>
              </a14:hiddenFill>
            </a:ext>
          </a:extLst>
        </p:spPr>
      </p:pic>
      <p:sp>
        <p:nvSpPr>
          <p:cNvPr id="248" name="Heading: Potential impact on the target"/>
          <p:cNvSpPr/>
          <p:nvPr/>
        </p:nvSpPr>
        <p:spPr>
          <a:xfrm>
            <a:off x="457200" y="1230000"/>
            <a:ext cx="9000000" cy="36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12385F"/>
                </a:solidFill>
                <a:latin typeface="Arial"/>
                <a:cs typeface="Arial"/>
              </a:rPr>
              <a:t>Potential impact on the target audience</a:t>
            </a:r>
          </a:p>
        </p:txBody>
      </p:sp>
      <p:sp>
        <p:nvSpPr>
          <p:cNvPr id="249" name="Audience 1"/>
          <p:cNvSpPr/>
          <p:nvPr/>
        </p:nvSpPr>
        <p:spPr>
          <a:xfrm>
            <a:off x="457200" y="1650000"/>
            <a:ext cx="2706900" cy="19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800" b="1" i="0" dirty="0">
                <a:solidFill>
                  <a:srgbClr val="12385F"/>
                </a:solidFill>
                <a:latin typeface="Arial"/>
                <a:cs typeface="Arial"/>
              </a:rPr>
              <a:t>AICTE</a:t>
            </a:r>
          </a:p>
          <a:p>
            <a:pPr marL="0" indent="0" algn="l">
              <a:spcBef>
                <a:spcPts val="0"/>
              </a:spcBef>
              <a:spcAft>
                <a:spcPts val="0"/>
              </a:spcAft>
              <a:buNone/>
            </a:pPr>
            <a:r>
              <a:rPr lang="en-US" sz="1500" b="0" i="0" dirty="0">
                <a:solidFill>
                  <a:srgbClr val="1F2933"/>
                </a:solidFill>
                <a:latin typeface="Arial"/>
                <a:cs typeface="Arial"/>
              </a:rPr>
              <a:t>Better visibility into approved intake and actual enrolment for review</a:t>
            </a:r>
          </a:p>
        </p:txBody>
      </p:sp>
      <p:sp>
        <p:nvSpPr>
          <p:cNvPr id="250" name="Audience 2"/>
          <p:cNvSpPr/>
          <p:nvPr/>
        </p:nvSpPr>
        <p:spPr>
          <a:xfrm>
            <a:off x="3314100" y="1650000"/>
            <a:ext cx="2706900" cy="19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800" b="1" i="0" dirty="0">
                <a:solidFill>
                  <a:srgbClr val="12385F"/>
                </a:solidFill>
                <a:latin typeface="Arial"/>
                <a:cs typeface="Arial"/>
              </a:rPr>
              <a:t>Institutions</a:t>
            </a:r>
          </a:p>
          <a:p>
            <a:pPr marL="0" indent="0" algn="l">
              <a:spcBef>
                <a:spcPts val="0"/>
              </a:spcBef>
              <a:spcAft>
                <a:spcPts val="0"/>
              </a:spcAft>
              <a:buNone/>
            </a:pPr>
            <a:r>
              <a:rPr lang="en-US" sz="1500" b="0" i="0" dirty="0">
                <a:solidFill>
                  <a:srgbClr val="1F2933"/>
                </a:solidFill>
                <a:latin typeface="Arial"/>
                <a:cs typeface="Arial"/>
              </a:rPr>
              <a:t>One organized process to maintain, correct and review student data</a:t>
            </a:r>
          </a:p>
        </p:txBody>
      </p:sp>
      <p:sp>
        <p:nvSpPr>
          <p:cNvPr id="251" name="Audience 3"/>
          <p:cNvSpPr/>
          <p:nvPr/>
        </p:nvSpPr>
        <p:spPr>
          <a:xfrm>
            <a:off x="6171000" y="1650000"/>
            <a:ext cx="2706900" cy="19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800" b="1" i="0" dirty="0">
                <a:solidFill>
                  <a:srgbClr val="12385F"/>
                </a:solidFill>
                <a:latin typeface="Arial"/>
                <a:cs typeface="Arial"/>
              </a:rPr>
              <a:t>Students</a:t>
            </a:r>
          </a:p>
          <a:p>
            <a:pPr marL="0" indent="0" algn="l">
              <a:spcBef>
                <a:spcPts val="0"/>
              </a:spcBef>
              <a:spcAft>
                <a:spcPts val="0"/>
              </a:spcAft>
              <a:buNone/>
            </a:pPr>
            <a:r>
              <a:rPr lang="en-US" sz="1500" b="0" i="0" dirty="0">
                <a:solidFill>
                  <a:srgbClr val="1F2933"/>
                </a:solidFill>
                <a:latin typeface="Arial"/>
                <a:cs typeface="Arial"/>
              </a:rPr>
              <a:t>More consistent and accurate student records</a:t>
            </a:r>
          </a:p>
        </p:txBody>
      </p:sp>
      <p:sp>
        <p:nvSpPr>
          <p:cNvPr id="252" name="Audience 4"/>
          <p:cNvSpPr/>
          <p:nvPr/>
        </p:nvSpPr>
        <p:spPr>
          <a:xfrm>
            <a:off x="9027900" y="1650000"/>
            <a:ext cx="2706900" cy="19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800" b="1" i="0" dirty="0">
                <a:solidFill>
                  <a:srgbClr val="12385F"/>
                </a:solidFill>
                <a:latin typeface="Arial"/>
                <a:cs typeface="Arial"/>
              </a:rPr>
              <a:t>Administrators</a:t>
            </a:r>
          </a:p>
          <a:p>
            <a:pPr marL="0" indent="0" algn="l">
              <a:spcBef>
                <a:spcPts val="0"/>
              </a:spcBef>
              <a:spcAft>
                <a:spcPts val="0"/>
              </a:spcAft>
              <a:buNone/>
            </a:pPr>
            <a:r>
              <a:rPr lang="en-US" sz="1500" b="0" i="0" dirty="0">
                <a:solidFill>
                  <a:srgbClr val="1F2933"/>
                </a:solidFill>
                <a:latin typeface="Arial"/>
                <a:cs typeface="Arial"/>
              </a:rPr>
              <a:t>Less repetitive manual checking; traceable actions</a:t>
            </a:r>
          </a:p>
        </p:txBody>
      </p:sp>
      <p:sp>
        <p:nvSpPr>
          <p:cNvPr id="253" name="Heading: Benefits of the solution (soci"/>
          <p:cNvSpPr/>
          <p:nvPr/>
        </p:nvSpPr>
        <p:spPr>
          <a:xfrm>
            <a:off x="457200" y="3750000"/>
            <a:ext cx="11000000" cy="36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12385F"/>
                </a:solidFill>
                <a:latin typeface="Arial"/>
                <a:cs typeface="Arial"/>
              </a:rPr>
              <a:t>Benefits of the solution (social, economic, environmental)</a:t>
            </a:r>
          </a:p>
        </p:txBody>
      </p:sp>
      <p:sp>
        <p:nvSpPr>
          <p:cNvPr id="254" name="Benefit 1 header"/>
          <p:cNvSpPr/>
          <p:nvPr/>
        </p:nvSpPr>
        <p:spPr>
          <a:xfrm>
            <a:off x="457200" y="4200000"/>
            <a:ext cx="3659200" cy="48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700" b="1" i="0" dirty="0">
                <a:solidFill>
                  <a:srgbClr val="FFFFFF"/>
                </a:solidFill>
                <a:latin typeface="Arial"/>
                <a:cs typeface="Arial"/>
              </a:rPr>
              <a:t>Social</a:t>
            </a:r>
          </a:p>
        </p:txBody>
      </p:sp>
      <p:sp>
        <p:nvSpPr>
          <p:cNvPr id="255" name="Benefit 1 body"/>
          <p:cNvSpPr/>
          <p:nvPr/>
        </p:nvSpPr>
        <p:spPr>
          <a:xfrm>
            <a:off x="457200" y="4680000"/>
            <a:ext cx="3659200" cy="154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Greater trust in student records</a:t>
            </a:r>
          </a:p>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Accountable, traceable data handling</a:t>
            </a:r>
          </a:p>
        </p:txBody>
      </p:sp>
      <p:sp>
        <p:nvSpPr>
          <p:cNvPr id="256" name="Benefit 2 header"/>
          <p:cNvSpPr/>
          <p:nvPr/>
        </p:nvSpPr>
        <p:spPr>
          <a:xfrm>
            <a:off x="4266400" y="4200000"/>
            <a:ext cx="3659200" cy="48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700" b="1" i="0" dirty="0">
                <a:solidFill>
                  <a:srgbClr val="FFFFFF"/>
                </a:solidFill>
                <a:latin typeface="Arial"/>
                <a:cs typeface="Arial"/>
              </a:rPr>
              <a:t>Economic</a:t>
            </a:r>
          </a:p>
        </p:txBody>
      </p:sp>
      <p:sp>
        <p:nvSpPr>
          <p:cNvPr id="257" name="Benefit 2 body"/>
          <p:cNvSpPr/>
          <p:nvPr/>
        </p:nvSpPr>
        <p:spPr>
          <a:xfrm>
            <a:off x="4266400" y="4680000"/>
            <a:ext cx="3659200" cy="154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Less repetitive manual checking</a:t>
            </a:r>
          </a:p>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Early error detection reduces rework</a:t>
            </a:r>
          </a:p>
        </p:txBody>
      </p:sp>
      <p:sp>
        <p:nvSpPr>
          <p:cNvPr id="258" name="Benefit 3 header"/>
          <p:cNvSpPr/>
          <p:nvPr/>
        </p:nvSpPr>
        <p:spPr>
          <a:xfrm>
            <a:off x="8075600" y="4200000"/>
            <a:ext cx="3659200" cy="480000"/>
          </a:xfrm>
          <a:prstGeom prst="rect">
            <a:avLst/>
          </a:prstGeom>
          <a:solidFill>
            <a:srgbClr val="0070C0"/>
          </a:solidFill>
          <a:ln>
            <a:noFill/>
          </a:ln>
        </p:spPr>
        <p:txBody>
          <a:bodyPr wrap="square" lIns="137160" tIns="45720" rIns="91440" bIns="45720" rtlCol="0" anchor="ctr">
            <a:noAutofit/>
          </a:bodyPr>
          <a:lstStyle/>
          <a:p>
            <a:pPr marL="0" indent="0" algn="l">
              <a:spcBef>
                <a:spcPts val="0"/>
              </a:spcBef>
              <a:spcAft>
                <a:spcPts val="0"/>
              </a:spcAft>
              <a:buNone/>
            </a:pPr>
            <a:r>
              <a:rPr lang="en-US" sz="1700" b="1" i="0" dirty="0">
                <a:solidFill>
                  <a:srgbClr val="FFFFFF"/>
                </a:solidFill>
                <a:latin typeface="Arial"/>
                <a:cs typeface="Arial"/>
              </a:rPr>
              <a:t>Environmental</a:t>
            </a:r>
          </a:p>
        </p:txBody>
      </p:sp>
      <p:sp>
        <p:nvSpPr>
          <p:cNvPr id="259" name="Benefit 3 body"/>
          <p:cNvSpPr/>
          <p:nvPr/>
        </p:nvSpPr>
        <p:spPr>
          <a:xfrm>
            <a:off x="8075600" y="4680000"/>
            <a:ext cx="3659200" cy="1540000"/>
          </a:xfrm>
          <a:prstGeom prst="rect">
            <a:avLst/>
          </a:prstGeom>
          <a:solidFill>
            <a:srgbClr val="EAF3FB"/>
          </a:solidFill>
          <a:ln w="9525">
            <a:solidFill>
              <a:srgbClr val="BCD6EE"/>
            </a:solidFill>
          </a:ln>
        </p:spPr>
        <p:txBody>
          <a:bodyPr wrap="square" lIns="137160" tIns="109728" rIns="109728" bIns="45720" rtlCol="0" anchor="t">
            <a:noAutofit/>
          </a:bodyPr>
          <a:lstStyle/>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Digital submission and reports reduce paper handling</a:t>
            </a:r>
          </a:p>
          <a:p>
            <a:pPr marL="171450" indent="-171450" algn="l">
              <a:spcBef>
                <a:spcPts val="0"/>
              </a:spcBef>
              <a:spcAft>
                <a:spcPts val="700"/>
              </a:spcAft>
              <a:buClr>
                <a:srgbClr val="D9661A"/>
              </a:buClr>
              <a:buFont typeface="Arial"/>
              <a:buChar char="•"/>
            </a:pPr>
            <a:r>
              <a:rPr lang="en-US" sz="1600" b="0" i="0" dirty="0">
                <a:solidFill>
                  <a:srgbClr val="1F2933"/>
                </a:solidFill>
                <a:latin typeface="Arial"/>
                <a:cs typeface="Arial"/>
              </a:rPr>
              <a:t>Centralized records replace scattered files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b="1" dirty="0"/>
              <a:t>BYTE CODX</a:t>
            </a:r>
            <a:endParaRPr lang="en-IN" b="1" dirty="0"/>
          </a:p>
        </p:txBody>
      </p:sp>
      <p:pic>
        <p:nvPicPr>
          <p:cNvPr id="11" name="Picture 2" descr="https://www.sih.gov.in/img1/SIH-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41366" y="57097"/>
            <a:ext cx="2209120" cy="1122868"/>
          </a:xfrm>
          <a:prstGeom prst="rect">
            <a:avLst/>
          </a:prstGeom>
          <a:noFill/>
          <a:extLst>
            <a:ext uri="{909E8E84-426E-40DD-AFC4-6F175D3DCCD1}">
              <a14:hiddenFill xmlns:a14="http://schemas.microsoft.com/office/drawing/2010/main">
                <a:solidFill>
                  <a:srgbClr val="FFFFFF"/>
                </a:solidFill>
              </a14:hiddenFill>
            </a:ext>
          </a:extLst>
        </p:spPr>
      </p:pic>
      <p:sp>
        <p:nvSpPr>
          <p:cNvPr id="260" name="Heading: Details of the reference and r"/>
          <p:cNvSpPr/>
          <p:nvPr/>
        </p:nvSpPr>
        <p:spPr>
          <a:xfrm>
            <a:off x="457200" y="1230000"/>
            <a:ext cx="9000000" cy="360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800" b="1" i="0" dirty="0">
                <a:solidFill>
                  <a:srgbClr val="12385F"/>
                </a:solidFill>
                <a:latin typeface="Arial"/>
                <a:cs typeface="Arial"/>
              </a:rPr>
              <a:t>Details of the reference and research work</a:t>
            </a:r>
          </a:p>
        </p:txBody>
      </p:sp>
      <p:sp>
        <p:nvSpPr>
          <p:cNvPr id="261" name="Reference 1"/>
          <p:cNvSpPr/>
          <p:nvPr/>
        </p:nvSpPr>
        <p:spPr>
          <a:xfrm>
            <a:off x="457200" y="168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APAAR ID (One Nation One Student ID)</a:t>
            </a:r>
          </a:p>
          <a:p>
            <a:pPr marL="0" indent="0" algn="l">
              <a:spcBef>
                <a:spcPts val="0"/>
              </a:spcBef>
              <a:spcAft>
                <a:spcPts val="500"/>
              </a:spcAft>
              <a:buNone/>
            </a:pPr>
            <a:r>
              <a:rPr lang="en-US" sz="1400" b="0" i="0" dirty="0">
                <a:solidFill>
                  <a:srgbClr val="1F2933"/>
                </a:solidFill>
                <a:latin typeface="Arial"/>
                <a:cs typeface="Arial"/>
              </a:rPr>
              <a:t>National academic identifier under NEP 2020. APAAR-Vault checks its format; official verification needs an authorized service.</a:t>
            </a:r>
          </a:p>
          <a:p>
            <a:pPr marL="0" indent="0" algn="l">
              <a:spcBef>
                <a:spcPts val="0"/>
              </a:spcBef>
              <a:spcAft>
                <a:spcPts val="0"/>
              </a:spcAft>
              <a:buNone/>
            </a:pPr>
            <a:r>
              <a:rPr lang="en-US" sz="1400" b="1" i="0" u="sng" dirty="0">
                <a:solidFill>
                  <a:srgbClr val="0070C0"/>
                </a:solidFill>
                <a:latin typeface="Arial"/>
                <a:cs typeface="Arial"/>
              </a:rPr>
              <a:t>apaar.education.gov.in</a:t>
            </a:r>
          </a:p>
        </p:txBody>
      </p:sp>
      <p:sp>
        <p:nvSpPr>
          <p:cNvPr id="262" name="Reference 2"/>
          <p:cNvSpPr/>
          <p:nvPr/>
        </p:nvSpPr>
        <p:spPr>
          <a:xfrm>
            <a:off x="4266400" y="168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Academic Bank of Credits (ABC)</a:t>
            </a:r>
          </a:p>
          <a:p>
            <a:pPr marL="0" indent="0" algn="l">
              <a:spcBef>
                <a:spcPts val="0"/>
              </a:spcBef>
              <a:spcAft>
                <a:spcPts val="500"/>
              </a:spcAft>
              <a:buNone/>
            </a:pPr>
            <a:r>
              <a:rPr lang="en-US" sz="1400" b="0" i="0" dirty="0">
                <a:solidFill>
                  <a:srgbClr val="1F2933"/>
                </a:solidFill>
                <a:latin typeface="Arial"/>
                <a:cs typeface="Arial"/>
              </a:rPr>
              <a:t>Digital repository of student credits within the same national academic-records ecosystem.</a:t>
            </a:r>
          </a:p>
          <a:p>
            <a:pPr marL="0" indent="0" algn="l">
              <a:spcBef>
                <a:spcPts val="0"/>
              </a:spcBef>
              <a:spcAft>
                <a:spcPts val="0"/>
              </a:spcAft>
              <a:buNone/>
            </a:pPr>
            <a:r>
              <a:rPr lang="en-US" sz="1400" b="1" i="0" u="sng" dirty="0">
                <a:solidFill>
                  <a:srgbClr val="0070C0"/>
                </a:solidFill>
                <a:latin typeface="Arial"/>
                <a:cs typeface="Arial"/>
              </a:rPr>
              <a:t>abc.gov.in</a:t>
            </a:r>
          </a:p>
        </p:txBody>
      </p:sp>
      <p:sp>
        <p:nvSpPr>
          <p:cNvPr id="263" name="Reference 3"/>
          <p:cNvSpPr/>
          <p:nvPr/>
        </p:nvSpPr>
        <p:spPr>
          <a:xfrm>
            <a:off x="8075600" y="168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DigiLocker</a:t>
            </a:r>
          </a:p>
          <a:p>
            <a:pPr marL="0" indent="0" algn="l">
              <a:spcBef>
                <a:spcPts val="0"/>
              </a:spcBef>
              <a:spcAft>
                <a:spcPts val="500"/>
              </a:spcAft>
              <a:buNone/>
            </a:pPr>
            <a:r>
              <a:rPr lang="en-US" sz="1400" b="0" i="0" dirty="0">
                <a:solidFill>
                  <a:srgbClr val="1F2933"/>
                </a:solidFill>
                <a:latin typeface="Arial"/>
                <a:cs typeface="Arial"/>
              </a:rPr>
              <a:t>National platform for issuing and verifying digital documents; a model for authorized, paperless verification.</a:t>
            </a:r>
          </a:p>
          <a:p>
            <a:pPr marL="0" indent="0" algn="l">
              <a:spcBef>
                <a:spcPts val="0"/>
              </a:spcBef>
              <a:spcAft>
                <a:spcPts val="0"/>
              </a:spcAft>
              <a:buNone/>
            </a:pPr>
            <a:r>
              <a:rPr lang="en-US" sz="1400" b="1" i="0" u="sng" dirty="0">
                <a:solidFill>
                  <a:srgbClr val="0070C0"/>
                </a:solidFill>
                <a:latin typeface="Arial"/>
                <a:cs typeface="Arial"/>
              </a:rPr>
              <a:t>digilocker.gov.in</a:t>
            </a:r>
          </a:p>
        </p:txBody>
      </p:sp>
      <p:sp>
        <p:nvSpPr>
          <p:cNvPr id="264" name="Reference 4"/>
          <p:cNvSpPr/>
          <p:nvPr/>
        </p:nvSpPr>
        <p:spPr>
          <a:xfrm>
            <a:off x="457200" y="352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AICTE</a:t>
            </a:r>
          </a:p>
          <a:p>
            <a:pPr marL="0" indent="0" algn="l">
              <a:spcBef>
                <a:spcPts val="0"/>
              </a:spcBef>
              <a:spcAft>
                <a:spcPts val="500"/>
              </a:spcAft>
              <a:buNone/>
            </a:pPr>
            <a:r>
              <a:rPr lang="en-US" sz="1400" b="0" i="0" dirty="0">
                <a:solidFill>
                  <a:srgbClr val="1F2933"/>
                </a:solidFill>
                <a:latin typeface="Arial"/>
                <a:cs typeface="Arial"/>
              </a:rPr>
              <a:t>Regulatory context: institution approval, approved intake and student-data reporting.</a:t>
            </a:r>
          </a:p>
          <a:p>
            <a:pPr marL="0" indent="0" algn="l">
              <a:spcBef>
                <a:spcPts val="0"/>
              </a:spcBef>
              <a:spcAft>
                <a:spcPts val="0"/>
              </a:spcAft>
              <a:buNone/>
            </a:pPr>
            <a:r>
              <a:rPr lang="en-US" sz="1400" b="1" i="0" u="sng" dirty="0">
                <a:solidFill>
                  <a:srgbClr val="0070C0"/>
                </a:solidFill>
                <a:latin typeface="Arial"/>
                <a:cs typeface="Arial"/>
              </a:rPr>
              <a:t>aicte-india.org</a:t>
            </a:r>
          </a:p>
        </p:txBody>
      </p:sp>
      <p:sp>
        <p:nvSpPr>
          <p:cNvPr id="265" name="Reference 5"/>
          <p:cNvSpPr/>
          <p:nvPr/>
        </p:nvSpPr>
        <p:spPr>
          <a:xfrm>
            <a:off x="4266400" y="352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Digital Personal Data Protection Act, 2023</a:t>
            </a:r>
          </a:p>
          <a:p>
            <a:pPr marL="0" indent="0" algn="l">
              <a:spcBef>
                <a:spcPts val="0"/>
              </a:spcBef>
              <a:spcAft>
                <a:spcPts val="500"/>
              </a:spcAft>
              <a:buNone/>
            </a:pPr>
            <a:r>
              <a:rPr lang="en-US" sz="1400" b="0" i="0" dirty="0">
                <a:solidFill>
                  <a:srgbClr val="1F2933"/>
                </a:solidFill>
                <a:latin typeface="Arial"/>
                <a:cs typeface="Arial"/>
              </a:rPr>
              <a:t>Reference for privacy-conscious design: purpose limitation, security safeguards. No compliance is claimed.</a:t>
            </a:r>
          </a:p>
          <a:p>
            <a:pPr marL="0" indent="0" algn="l">
              <a:spcBef>
                <a:spcPts val="0"/>
              </a:spcBef>
              <a:spcAft>
                <a:spcPts val="0"/>
              </a:spcAft>
              <a:buNone/>
            </a:pPr>
            <a:r>
              <a:rPr lang="en-US" sz="1400" b="1" i="0" u="sng" dirty="0">
                <a:solidFill>
                  <a:srgbClr val="0070C0"/>
                </a:solidFill>
                <a:latin typeface="Arial"/>
                <a:cs typeface="Arial"/>
              </a:rPr>
              <a:t>meity.gov.in</a:t>
            </a:r>
          </a:p>
        </p:txBody>
      </p:sp>
      <p:sp>
        <p:nvSpPr>
          <p:cNvPr id="266" name="Reference 6"/>
          <p:cNvSpPr/>
          <p:nvPr/>
        </p:nvSpPr>
        <p:spPr>
          <a:xfrm>
            <a:off x="8075600" y="3520000"/>
            <a:ext cx="3659200" cy="1700000"/>
          </a:xfrm>
          <a:prstGeom prst="rect">
            <a:avLst/>
          </a:prstGeom>
          <a:solidFill>
            <a:srgbClr val="EAF3FB"/>
          </a:solidFill>
          <a:ln w="9525">
            <a:solidFill>
              <a:srgbClr val="BCD6EE"/>
            </a:solidFill>
          </a:ln>
        </p:spPr>
        <p:txBody>
          <a:bodyPr wrap="square" lIns="137160" tIns="109728" rIns="109728" bIns="45720" rtlCol="0" anchor="t">
            <a:noAutofit/>
          </a:bodyPr>
          <a:lstStyle/>
          <a:p>
            <a:pPr marL="0" indent="0" algn="l">
              <a:spcBef>
                <a:spcPts val="0"/>
              </a:spcBef>
              <a:spcAft>
                <a:spcPts val="500"/>
              </a:spcAft>
              <a:buNone/>
            </a:pPr>
            <a:r>
              <a:rPr lang="en-US" sz="1600" b="1" i="0" dirty="0">
                <a:solidFill>
                  <a:srgbClr val="12385F"/>
                </a:solidFill>
                <a:latin typeface="Arial"/>
                <a:cs typeface="Arial"/>
              </a:rPr>
              <a:t>National Education Policy 2020</a:t>
            </a:r>
          </a:p>
          <a:p>
            <a:pPr marL="0" indent="0" algn="l">
              <a:spcBef>
                <a:spcPts val="0"/>
              </a:spcBef>
              <a:spcAft>
                <a:spcPts val="500"/>
              </a:spcAft>
              <a:buNone/>
            </a:pPr>
            <a:r>
              <a:rPr lang="en-US" sz="1400" b="0" i="0" dirty="0">
                <a:solidFill>
                  <a:srgbClr val="1F2933"/>
                </a:solidFill>
                <a:latin typeface="Arial"/>
                <a:cs typeface="Arial"/>
              </a:rPr>
              <a:t>Policy basis for the unique student ID and digital academic records.</a:t>
            </a:r>
          </a:p>
          <a:p>
            <a:pPr marL="0" indent="0" algn="l">
              <a:spcBef>
                <a:spcPts val="0"/>
              </a:spcBef>
              <a:spcAft>
                <a:spcPts val="0"/>
              </a:spcAft>
              <a:buNone/>
            </a:pPr>
            <a:r>
              <a:rPr lang="en-US" sz="1400" b="1" i="0" u="sng" dirty="0">
                <a:solidFill>
                  <a:srgbClr val="0070C0"/>
                </a:solidFill>
                <a:latin typeface="Arial"/>
                <a:cs typeface="Arial"/>
              </a:rPr>
              <a:t>education.gov.in</a:t>
            </a:r>
          </a:p>
        </p:txBody>
      </p:sp>
      <p:sp>
        <p:nvSpPr>
          <p:cNvPr id="17410" name="Rounded Rectangle 17409"/>
          <p:cNvSpPr/>
          <p:nvPr/>
        </p:nvSpPr>
        <p:spPr>
          <a:xfrm>
            <a:off x="457200" y="5320000"/>
            <a:ext cx="11277600" cy="920000"/>
          </a:xfrm>
          <a:prstGeom prst="roundRect">
            <a:avLst/>
          </a:prstGeom>
          <a:solidFill>
            <a:srgbClr val="FEF7F0"/>
          </a:solidFill>
          <a:ln w="19050">
            <a:solidFill>
              <a:srgbClr val="F15A2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b="1" sz="1100">
                <a:solidFill>
                  <a:srgbClr val="F15A24"/>
                </a:solidFill>
              </a:defRPr>
            </a:pPr>
            <a:r>
              <a:t>▶ WORKING PROTOTYPE DEMONSTRATION &amp; OPEN-SOURCE CODEBASE</a:t>
            </a:r>
          </a:p>
          <a:p>
            <a:pPr algn="l">
              <a:defRPr b="1" sz="1000">
                <a:solidFill>
                  <a:srgbClr val="102A4D"/>
                </a:solidFill>
              </a:defRPr>
            </a:pPr>
            <a:r>
              <a:t>• YouTube Prototype Video: https://youtu.be/rEz9BszbQnQ?si=c1oF4zL5QWqgU2EB   |   • GitHub Repository: https://github.com/SDP-001/SIH.git</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50000" y="120000"/>
            <a:ext cx="7950000" cy="1000000"/>
          </a:xfrm>
          <a:prstGeom prst="rect">
            <a:avLst/>
          </a:prstGeom>
          <a:noFill/>
        </p:spPr>
        <p:txBody>
          <a:bodyPr wrap="none">
            <a:spAutoFit/>
          </a:bodyPr>
          <a:lstStyle/>
          <a:p>
            <a:pPr algn="ctr">
              <a:defRPr b="1" sz="2400">
                <a:solidFill>
                  <a:srgbClr val="102A4D"/>
                </a:solidFill>
              </a:defRPr>
            </a:pPr>
            <a:r>
              <a:t>WORKING PROTOTYPE &amp; IMPLEMENTATION</a:t>
            </a:r>
          </a:p>
          <a:p>
            <a:pPr algn="ctr">
              <a:defRPr sz="1200">
                <a:solidFill>
                  <a:srgbClr val="F15A24"/>
                </a:solidFill>
              </a:defRPr>
            </a:pPr>
            <a:r>
              <a:t>APAAR-Vault: Live Regulatory Monitoring &amp; Student Verification Platform</a:t>
            </a:r>
          </a:p>
        </p:txBody>
      </p:sp>
      <p:sp>
        <p:nvSpPr>
          <p:cNvPr id="3" name="Oval 2"/>
          <p:cNvSpPr/>
          <p:nvPr/>
        </p:nvSpPr>
        <p:spPr>
          <a:xfrm>
            <a:off x="329773" y="252246"/>
            <a:ext cx="1251857" cy="807334"/>
          </a:xfrm>
          <a:prstGeom prst="ellipse">
            <a:avLst/>
          </a:prstGeom>
          <a:solidFill>
            <a:srgbClr val="F15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BYTE CODX</a:t>
            </a:r>
          </a:p>
        </p:txBody>
      </p:sp>
      <p:pic>
        <p:nvPicPr>
          <p:cNvPr id="4" name="Picture 3" descr="image.png"/>
          <p:cNvPicPr>
            <a:picLocks noChangeAspect="1"/>
          </p:cNvPicPr>
          <p:nvPr/>
        </p:nvPicPr>
        <p:blipFill>
          <a:blip r:embed="rId2"/>
          <a:stretch>
            <a:fillRect/>
          </a:stretch>
        </p:blipFill>
        <p:spPr>
          <a:xfrm>
            <a:off x="9841366" y="57097"/>
            <a:ext cx="2209120" cy="1122868"/>
          </a:xfrm>
          <a:prstGeom prst="rect">
            <a:avLst/>
          </a:prstGeom>
        </p:spPr>
      </p:pic>
      <p:sp>
        <p:nvSpPr>
          <p:cNvPr id="5" name="Rectangle 4"/>
          <p:cNvSpPr/>
          <p:nvPr/>
        </p:nvSpPr>
        <p:spPr>
          <a:xfrm>
            <a:off x="0" y="6354762"/>
            <a:ext cx="12191999" cy="503238"/>
          </a:xfrm>
          <a:prstGeom prst="rect">
            <a:avLst/>
          </a:prstGeom>
          <a:solidFill>
            <a:srgbClr val="102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48200" y="6356353"/>
            <a:ext cx="3204000" cy="365125"/>
          </a:xfrm>
          <a:prstGeom prst="rect">
            <a:avLst/>
          </a:prstGeom>
          <a:noFill/>
        </p:spPr>
        <p:txBody>
          <a:bodyPr wrap="none">
            <a:spAutoFit/>
          </a:bodyPr>
          <a:lstStyle/>
          <a:p>
            <a:pPr algn="ctr">
              <a:defRPr sz="1000">
                <a:solidFill>
                  <a:srgbClr val="FFFFFF"/>
                </a:solidFill>
              </a:defRPr>
            </a:pPr>
            <a:r>
              <a:t>@SIH Idea submission- Template</a:t>
            </a:r>
          </a:p>
        </p:txBody>
      </p:sp>
      <p:sp>
        <p:nvSpPr>
          <p:cNvPr id="7" name="TextBox 6"/>
          <p:cNvSpPr txBox="1"/>
          <p:nvPr/>
        </p:nvSpPr>
        <p:spPr>
          <a:xfrm>
            <a:off x="8737600" y="6356353"/>
            <a:ext cx="2844800" cy="365125"/>
          </a:xfrm>
          <a:prstGeom prst="rect">
            <a:avLst/>
          </a:prstGeom>
          <a:noFill/>
        </p:spPr>
        <p:txBody>
          <a:bodyPr wrap="none">
            <a:spAutoFit/>
          </a:bodyPr>
          <a:lstStyle/>
          <a:p>
            <a:pPr algn="r">
              <a:defRPr sz="1000">
                <a:solidFill>
                  <a:srgbClr val="FFFFFF"/>
                </a:solidFill>
              </a:defRPr>
            </a:pPr>
            <a:r>
              <a:t>7</a:t>
            </a:r>
          </a:p>
        </p:txBody>
      </p:sp>
      <p:sp>
        <p:nvSpPr>
          <p:cNvPr id="8" name="Rounded Rectangle 7"/>
          <p:cNvSpPr/>
          <p:nvPr/>
        </p:nvSpPr>
        <p:spPr>
          <a:xfrm>
            <a:off x="457200" y="1300000"/>
            <a:ext cx="7200000" cy="1150000"/>
          </a:xfrm>
          <a:prstGeom prst="roundRect">
            <a:avLst/>
          </a:prstGeom>
          <a:solidFill>
            <a:srgbClr val="EAF3FB"/>
          </a:solidFill>
          <a:ln w="12700">
            <a:solidFill>
              <a:srgbClr val="BCD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102A4D"/>
                </a:solidFill>
              </a:defRPr>
            </a:pPr>
            <a:r>
              <a:t>✅ AICTE Regulatory Dashboard &amp; Intake Monitoring</a:t>
            </a:r>
          </a:p>
          <a:p>
            <a:pPr>
              <a:defRPr sz="950">
                <a:solidFill>
                  <a:srgbClr val="212529"/>
                </a:solidFill>
              </a:defRPr>
            </a:pPr>
            <a:r>
              <a:t>Real-time compliance monitoring tracking 12 accredited technical campuses, approved intake vs. actual enrolment capacity ratios, and automatic over-enrolment detection alerts.</a:t>
            </a:r>
          </a:p>
        </p:txBody>
      </p:sp>
      <p:sp>
        <p:nvSpPr>
          <p:cNvPr id="9" name="Rounded Rectangle 8"/>
          <p:cNvSpPr/>
          <p:nvPr/>
        </p:nvSpPr>
        <p:spPr>
          <a:xfrm>
            <a:off x="457200" y="2550000"/>
            <a:ext cx="7200000" cy="1150000"/>
          </a:xfrm>
          <a:prstGeom prst="roundRect">
            <a:avLst/>
          </a:prstGeom>
          <a:solidFill>
            <a:srgbClr val="EAF3FB"/>
          </a:solidFill>
          <a:ln w="12700">
            <a:solidFill>
              <a:srgbClr val="BCD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102A4D"/>
                </a:solidFill>
              </a:defRPr>
            </a:pPr>
            <a:r>
              <a:t>✅ 10-Point Validation Engine &amp; Cross-Campus Duplicate Detector</a:t>
            </a:r>
          </a:p>
          <a:p>
            <a:pPr>
              <a:defRPr sz="950">
                <a:solidFill>
                  <a:srgbClr val="212529"/>
                </a:solidFill>
              </a:defRPr>
            </a:pPr>
            <a:r>
              <a:t>Validates Verhoeff/Luhn checksums on APAAR IDs, flags multi-institution dual enrolment candidates, validates mandatory regulatory fields, and triggers human-in-the-loop review.</a:t>
            </a:r>
          </a:p>
        </p:txBody>
      </p:sp>
      <p:sp>
        <p:nvSpPr>
          <p:cNvPr id="10" name="Rounded Rectangle 9"/>
          <p:cNvSpPr/>
          <p:nvPr/>
        </p:nvSpPr>
        <p:spPr>
          <a:xfrm>
            <a:off x="457200" y="3800000"/>
            <a:ext cx="7200000" cy="1150000"/>
          </a:xfrm>
          <a:prstGeom prst="roundRect">
            <a:avLst/>
          </a:prstGeom>
          <a:solidFill>
            <a:srgbClr val="EAF3FB"/>
          </a:solidFill>
          <a:ln w="12700">
            <a:solidFill>
              <a:srgbClr val="BCD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102A4D"/>
                </a:solidFill>
              </a:defRPr>
            </a:pPr>
            <a:r>
              <a:t>✅ Zero-Knowledge Public Verification Portal &amp; QR Code</a:t>
            </a:r>
          </a:p>
          <a:p>
            <a:pPr>
              <a:defRPr sz="950">
                <a:solidFill>
                  <a:srgbClr val="212529"/>
                </a:solidFill>
              </a:defRPr>
            </a:pPr>
            <a:r>
              <a:t>Third-party employers and universities can scan a student's secure QR code or verify an opaque verification code directly online. Cryptographically verified with zero sensitive PII leakage.</a:t>
            </a:r>
          </a:p>
        </p:txBody>
      </p:sp>
      <p:sp>
        <p:nvSpPr>
          <p:cNvPr id="11" name="Rounded Rectangle 10"/>
          <p:cNvSpPr/>
          <p:nvPr/>
        </p:nvSpPr>
        <p:spPr>
          <a:xfrm>
            <a:off x="457200" y="5050000"/>
            <a:ext cx="7200000" cy="1180000"/>
          </a:xfrm>
          <a:prstGeom prst="roundRect">
            <a:avLst/>
          </a:prstGeom>
          <a:solidFill>
            <a:srgbClr val="FEF7F0"/>
          </a:solidFill>
          <a:ln w="19050">
            <a:solidFill>
              <a:srgbClr val="F15A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15A24"/>
                </a:solidFill>
              </a:defRPr>
            </a:pPr>
            <a:r>
              <a:t>🎥 LIVE PROTOTYPE DEMONSTRATION &amp; REPOSITORY LINKS</a:t>
            </a:r>
          </a:p>
          <a:p>
            <a:pPr>
              <a:defRPr b="1" sz="950">
                <a:solidFill>
                  <a:srgbClr val="102A4D"/>
                </a:solidFill>
              </a:defRPr>
            </a:pPr>
            <a:r>
              <a:t>▶ YouTube Live Walkthrough: https://youtu.be/rEz9BszbQnQ?si=c1oF4zL5QWqgU2EB</a:t>
            </a:r>
          </a:p>
          <a:p>
            <a:pPr>
              <a:defRPr b="1" sz="950">
                <a:solidFill>
                  <a:srgbClr val="102A4D"/>
                </a:solidFill>
              </a:defRPr>
            </a:pPr>
            <a:r>
              <a:t>▶ GitHub Source Repository: https://github.com/SDP-001/SIH.git</a:t>
            </a:r>
          </a:p>
        </p:txBody>
      </p:sp>
      <p:sp>
        <p:nvSpPr>
          <p:cNvPr id="12" name="Rounded Rectangle 11"/>
          <p:cNvSpPr/>
          <p:nvPr/>
        </p:nvSpPr>
        <p:spPr>
          <a:xfrm>
            <a:off x="7850000" y="1300000"/>
            <a:ext cx="3880000" cy="1900000"/>
          </a:xfrm>
          <a:prstGeom prst="roundRect">
            <a:avLst/>
          </a:prstGeom>
          <a:solidFill>
            <a:srgbClr val="FFFFFF"/>
          </a:solidFill>
          <a:ln w="12700">
            <a:solidFill>
              <a:srgbClr val="BCD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aar-logo.png"/>
          <p:cNvPicPr>
            <a:picLocks noChangeAspect="1"/>
          </p:cNvPicPr>
          <p:nvPr/>
        </p:nvPicPr>
        <p:blipFill>
          <a:blip r:embed="rId3"/>
          <a:stretch>
            <a:fillRect/>
          </a:stretch>
        </p:blipFill>
        <p:spPr>
          <a:xfrm>
            <a:off x="8000000" y="1400000"/>
            <a:ext cx="3580000" cy="2008878"/>
          </a:xfrm>
          <a:prstGeom prst="rect">
            <a:avLst/>
          </a:prstGeom>
        </p:spPr>
      </p:pic>
      <p:sp>
        <p:nvSpPr>
          <p:cNvPr id="14" name="TextBox 13"/>
          <p:cNvSpPr txBox="1"/>
          <p:nvPr/>
        </p:nvSpPr>
        <p:spPr>
          <a:xfrm>
            <a:off x="7850000" y="2800000"/>
            <a:ext cx="3880000" cy="350000"/>
          </a:xfrm>
          <a:prstGeom prst="rect">
            <a:avLst/>
          </a:prstGeom>
          <a:noFill/>
        </p:spPr>
        <p:txBody>
          <a:bodyPr wrap="none">
            <a:spAutoFit/>
          </a:bodyPr>
          <a:lstStyle/>
          <a:p>
            <a:pPr algn="ctr">
              <a:defRPr sz="850" i="1">
                <a:solidFill>
                  <a:srgbClr val="6C757D"/>
                </a:solidFill>
              </a:defRPr>
            </a:pPr>
            <a:r>
              <a:t>Aligned with National Education Policy (NEP 2020)</a:t>
            </a:r>
          </a:p>
        </p:txBody>
      </p:sp>
      <p:sp>
        <p:nvSpPr>
          <p:cNvPr id="15" name="Rounded Rectangle 14"/>
          <p:cNvSpPr/>
          <p:nvPr/>
        </p:nvSpPr>
        <p:spPr>
          <a:xfrm>
            <a:off x="7850000" y="3350000"/>
            <a:ext cx="3880000" cy="2880000"/>
          </a:xfrm>
          <a:prstGeom prst="roundRect">
            <a:avLst/>
          </a:prstGeom>
          <a:solidFill>
            <a:srgbClr val="EAF3FB"/>
          </a:solidFill>
          <a:ln w="12700">
            <a:solidFill>
              <a:srgbClr val="BCD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50000" y="3450000"/>
            <a:ext cx="3880000" cy="350000"/>
          </a:xfrm>
          <a:prstGeom prst="rect">
            <a:avLst/>
          </a:prstGeom>
          <a:noFill/>
        </p:spPr>
        <p:txBody>
          <a:bodyPr wrap="none">
            <a:spAutoFit/>
          </a:bodyPr>
          <a:lstStyle/>
          <a:p>
            <a:pPr algn="ctr">
              <a:defRPr b="1" sz="1100">
                <a:solidFill>
                  <a:srgbClr val="102A4D"/>
                </a:solidFill>
              </a:defRPr>
            </a:pPr>
            <a:r>
              <a:t>📱 Scan to Test Live Verification</a:t>
            </a:r>
          </a:p>
        </p:txBody>
      </p:sp>
      <p:pic>
        <p:nvPicPr>
          <p:cNvPr id="17" name="Picture 16" descr="mobile_qr.png"/>
          <p:cNvPicPr>
            <a:picLocks noChangeAspect="1"/>
          </p:cNvPicPr>
          <p:nvPr/>
        </p:nvPicPr>
        <p:blipFill>
          <a:blip r:embed="rId4"/>
          <a:stretch>
            <a:fillRect/>
          </a:stretch>
        </p:blipFill>
        <p:spPr>
          <a:xfrm>
            <a:off x="8890000" y="3850000"/>
            <a:ext cx="1800000" cy="1800000"/>
          </a:xfrm>
          <a:prstGeom prst="rect">
            <a:avLst/>
          </a:prstGeom>
        </p:spPr>
      </p:pic>
      <p:sp>
        <p:nvSpPr>
          <p:cNvPr id="18" name="TextBox 17"/>
          <p:cNvSpPr txBox="1"/>
          <p:nvPr/>
        </p:nvSpPr>
        <p:spPr>
          <a:xfrm>
            <a:off x="8000000" y="5700000"/>
            <a:ext cx="3580000" cy="450000"/>
          </a:xfrm>
          <a:prstGeom prst="rect">
            <a:avLst/>
          </a:prstGeom>
          <a:noFill/>
        </p:spPr>
        <p:txBody>
          <a:bodyPr wrap="none">
            <a:spAutoFit/>
          </a:bodyPr>
          <a:lstStyle/>
          <a:p>
            <a:pPr algn="ctr">
              <a:defRPr sz="850">
                <a:solidFill>
                  <a:srgbClr val="212529"/>
                </a:solidFill>
              </a:defRPr>
            </a:pPr>
            <a:r>
              <a:t>Directly scan with phone camera to test instant APAAR cryptographic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7495</TotalTime>
  <Words>1271</Words>
  <Application>Microsoft Office PowerPoint</Application>
  <PresentationFormat>Widescreen</PresentationFormat>
  <Paragraphs>156</Paragraphs>
  <Slides>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Calibri</vt:lpstr>
      <vt:lpstr>Garamond</vt:lpstr>
      <vt:lpstr>Times New Roman</vt:lpstr>
      <vt:lpstr>TradeGothic</vt:lpstr>
      <vt:lpstr>Office Theme</vt:lpstr>
      <vt:lpstr>SMART INDIA HACKATHON 2026</vt:lpstr>
      <vt:lpstr> APAAR-Vault: Student Data Management and Verification Platform</vt:lpstr>
      <vt:lpstr>TECHNICAL APPROACH</vt:lpstr>
      <vt:lpstr>FEASIBILITY AND VIABILITY</vt:lpstr>
      <vt:lpstr>IMPACT AND BENEFITS</vt:lpstr>
      <vt:lpstr>RESEARCH AND REFERENCES</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SDP _SINGLE_BOY 001</cp:lastModifiedBy>
  <cp:revision>147</cp:revision>
  <dcterms:created xsi:type="dcterms:W3CDTF">2013-12-12T18:46:50Z</dcterms:created>
  <dcterms:modified xsi:type="dcterms:W3CDTF">2026-10-29T05:22:05Z</dcterms:modified>
  <cp:category/>
</cp:coreProperties>
</file>