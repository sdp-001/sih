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tu.be/rEz9BszbQnQ?si=c1oF4zL5QWqgU2EB" TargetMode="External"/><Relationship Id="rId3" Type="http://schemas.openxmlformats.org/officeDocument/2006/relationships/hyperlink" Target="https://github.com/SDP-001/SIH.git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youtu.be/rEz9BszbQnQ?si=c1oF4zL5QWqgU2EB" TargetMode="External"/><Relationship Id="rId4" Type="http://schemas.openxmlformats.org/officeDocument/2006/relationships/hyperlink" Target="https://github.com/SDP-001/SIH.git" TargetMode="External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youtu.be/rEz9BszbQnQ?si=c1oF4zL5QWqgU2EB" TargetMode="External"/><Relationship Id="rId4" Type="http://schemas.openxmlformats.org/officeDocument/2006/relationships/hyperlink" Target="https://github.com/SDP-001/SIH.git" TargetMode="External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youtu.be/rEz9BszbQnQ?si=c1oF4zL5QWqgU2EB" TargetMode="External"/><Relationship Id="rId5" Type="http://schemas.openxmlformats.org/officeDocument/2006/relationships/hyperlink" Target="https://github.com/SDP-001/SIH.gi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0" y="300000"/>
            <a:ext cx="91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102A4D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1050000"/>
            <a:ext cx="919200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A93226"/>
                </a:solidFill>
                <a:latin typeface="Georgia"/>
              </a:defRPr>
            </a:pPr>
            <a:r>
              <a:t>Team – Byte codx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800000"/>
            <a:ext cx="72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50">
                <a:solidFill>
                  <a:srgbClr val="102A4D"/>
                </a:solidFill>
                <a:latin typeface="Calibri"/>
              </a:rPr>
              <a:t>• Problem Statement ID: </a:t>
            </a:r>
            <a:r>
              <a:rPr sz="1300">
                <a:solidFill>
                  <a:srgbClr val="212529"/>
                </a:solidFill>
                <a:latin typeface="Calibri"/>
              </a:rPr>
              <a:t>26263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A4D"/>
                </a:solidFill>
                <a:latin typeface="Calibri"/>
              </a:rPr>
              <a:t>• Problem Statement Title: </a:t>
            </a:r>
            <a:r>
              <a:rPr sz="1300">
                <a:solidFill>
                  <a:srgbClr val="212529"/>
                </a:solidFill>
                <a:latin typeface="Calibri"/>
              </a:rPr>
              <a:t>Development of an APAAR ID-Based Student Data Management and Verification Platform for AICTE-Approved Institutions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A4D"/>
                </a:solidFill>
                <a:latin typeface="Calibri"/>
              </a:rPr>
              <a:t>• Theme: </a:t>
            </a:r>
            <a:r>
              <a:rPr sz="1300">
                <a:solidFill>
                  <a:srgbClr val="212529"/>
                </a:solidFill>
                <a:latin typeface="Calibri"/>
              </a:rPr>
              <a:t>Smart Automation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A4D"/>
                </a:solidFill>
                <a:latin typeface="Calibri"/>
              </a:rPr>
              <a:t>• PS Category- Software/Hardware: </a:t>
            </a:r>
            <a:r>
              <a:rPr sz="1300">
                <a:solidFill>
                  <a:srgbClr val="212529"/>
                </a:solidFill>
                <a:latin typeface="Calibri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A4D"/>
                </a:solidFill>
                <a:latin typeface="Calibri"/>
              </a:rPr>
              <a:t>• Team ID: </a:t>
            </a:r>
            <a:r>
              <a:rPr sz="1300">
                <a:solidFill>
                  <a:srgbClr val="212529"/>
                </a:solidFill>
                <a:latin typeface="Calibri"/>
              </a:rPr>
              <a:t>199199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02A4D"/>
                </a:solidFill>
                <a:latin typeface="Calibri"/>
              </a:rPr>
              <a:t>• Team Name: </a:t>
            </a:r>
            <a:r>
              <a:rPr sz="1300">
                <a:solidFill>
                  <a:srgbClr val="212529"/>
                </a:solidFill>
                <a:latin typeface="Calibri"/>
              </a:rPr>
              <a:t>Byte codx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5200000"/>
            <a:ext cx="6800000" cy="115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b="1" sz="1100">
                <a:solidFill>
                  <a:srgbClr val="A93226"/>
                </a:solidFill>
                <a:latin typeface="Calibri"/>
              </a:rPr>
              <a:t>▶ Prototype Video: </a:t>
            </a:r>
            <a:r>
              <a:rPr b="1" sz="1100" u="sng">
                <a:solidFill>
                  <a:srgbClr val="0066CC"/>
                </a:solidFill>
                <a:latin typeface="Calibri"/>
                <a:hlinkClick r:id="rId2"/>
              </a:rPr>
              <a:t>https://youtu.be/rEz9BszbQnQ?si=c1oF4zL5QWqgU2EB</a:t>
            </a:r>
          </a:p>
          <a:p>
            <a:r>
              <a:rPr b="1" sz="1100">
                <a:solidFill>
                  <a:srgbClr val="102A4D"/>
                </a:solidFill>
                <a:latin typeface="Calibri"/>
              </a:rPr>
              <a:t>▶ GitHub Repository: </a:t>
            </a:r>
            <a:r>
              <a:rPr b="1" sz="1100" u="sng">
                <a:solidFill>
                  <a:srgbClr val="0066CC"/>
                </a:solidFill>
                <a:latin typeface="Calibri"/>
                <a:hlinkClick r:id="rId3"/>
              </a:rPr>
              <a:t>https://github.com/SDP-001/SIH.git</a:t>
            </a:r>
          </a:p>
        </p:txBody>
      </p:sp>
      <p:pic>
        <p:nvPicPr>
          <p:cNvPr id="7" name="Picture 6" descr="sih_bulb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1750000"/>
            <a:ext cx="3700000" cy="15862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0000" y="5700000"/>
            <a:ext cx="23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i="1" sz="3000">
                <a:solidFill>
                  <a:srgbClr val="A93226"/>
                </a:solidFill>
                <a:latin typeface="Georgia"/>
              </a:defRPr>
            </a:pPr>
            <a:r>
              <a:t>Byte codx</a:t>
            </a:r>
          </a:p>
        </p:txBody>
      </p:sp>
      <p:pic>
        <p:nvPicPr>
          <p:cNvPr id="9" name="Picture 8" descr="sih_header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0000" y="150000"/>
            <a:ext cx="1900000" cy="9657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0000"/>
            <a:ext cx="2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b="1" sz="2400">
                <a:solidFill>
                  <a:srgbClr val="A93226"/>
                </a:solidFill>
                <a:latin typeface="Georgia"/>
              </a:defRPr>
            </a:pPr>
            <a:r>
              <a:t>Byte codx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0000" y="140000"/>
            <a:ext cx="66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102A4D"/>
                </a:solidFill>
                <a:latin typeface="Calibri"/>
              </a:defRPr>
            </a:pPr>
            <a:r>
              <a:t>APAAR-Vault: Student Data Management &amp; Verification Platform</a:t>
            </a:r>
          </a:p>
        </p:txBody>
      </p:sp>
      <p:pic>
        <p:nvPicPr>
          <p:cNvPr id="5" name="Picture 4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0" y="80000"/>
            <a:ext cx="1900000" cy="9657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20000"/>
            <a:ext cx="12192000" cy="438000"/>
          </a:xfrm>
          <a:prstGeom prst="rect">
            <a:avLst/>
          </a:prstGeom>
          <a:solidFill>
            <a:srgbClr val="10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0000" y="6440000"/>
            <a:ext cx="3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0000" y="644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9" name="Picture 8" descr="prototype_hub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000" y="1150000"/>
            <a:ext cx="3700000" cy="49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0000" y="120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Institutional Bulk Data Upload</a:t>
            </a:r>
          </a:p>
        </p:txBody>
      </p:sp>
      <p:sp>
        <p:nvSpPr>
          <p:cNvPr id="11" name="Oval 10"/>
          <p:cNvSpPr/>
          <p:nvPr/>
        </p:nvSpPr>
        <p:spPr>
          <a:xfrm>
            <a:off x="4090000" y="141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0000" y="191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Automated Format &amp; Schema Checks</a:t>
            </a:r>
          </a:p>
        </p:txBody>
      </p:sp>
      <p:sp>
        <p:nvSpPr>
          <p:cNvPr id="13" name="Oval 12"/>
          <p:cNvSpPr/>
          <p:nvPr/>
        </p:nvSpPr>
        <p:spPr>
          <a:xfrm>
            <a:off x="4090000" y="212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0000" y="262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10-Point Validation Rule Engine</a:t>
            </a:r>
          </a:p>
        </p:txBody>
      </p:sp>
      <p:sp>
        <p:nvSpPr>
          <p:cNvPr id="15" name="Oval 14"/>
          <p:cNvSpPr/>
          <p:nvPr/>
        </p:nvSpPr>
        <p:spPr>
          <a:xfrm>
            <a:off x="4090000" y="283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0000" y="333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Approved Intake Monitoring</a:t>
            </a:r>
          </a:p>
        </p:txBody>
      </p:sp>
      <p:sp>
        <p:nvSpPr>
          <p:cNvPr id="17" name="Oval 16"/>
          <p:cNvSpPr/>
          <p:nvPr/>
        </p:nvSpPr>
        <p:spPr>
          <a:xfrm>
            <a:off x="4090000" y="354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0000" y="404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Over-Enrolment Discrepancy Alerts</a:t>
            </a:r>
          </a:p>
        </p:txBody>
      </p:sp>
      <p:sp>
        <p:nvSpPr>
          <p:cNvPr id="19" name="Oval 18"/>
          <p:cNvSpPr/>
          <p:nvPr/>
        </p:nvSpPr>
        <p:spPr>
          <a:xfrm>
            <a:off x="4090000" y="425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0000" y="475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Institutional Correction Workflows</a:t>
            </a:r>
          </a:p>
        </p:txBody>
      </p:sp>
      <p:sp>
        <p:nvSpPr>
          <p:cNvPr id="21" name="Oval 20"/>
          <p:cNvSpPr/>
          <p:nvPr/>
        </p:nvSpPr>
        <p:spPr>
          <a:xfrm>
            <a:off x="4090000" y="496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0000" y="546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Tamper-Evident Audit Trails</a:t>
            </a:r>
          </a:p>
        </p:txBody>
      </p:sp>
      <p:sp>
        <p:nvSpPr>
          <p:cNvPr id="23" name="Oval 22"/>
          <p:cNvSpPr/>
          <p:nvPr/>
        </p:nvSpPr>
        <p:spPr>
          <a:xfrm>
            <a:off x="4090000" y="567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2000" y="120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Verhoeff &amp; Luhn Checksum Checks</a:t>
            </a:r>
          </a:p>
        </p:txBody>
      </p:sp>
      <p:sp>
        <p:nvSpPr>
          <p:cNvPr id="25" name="Oval 24"/>
          <p:cNvSpPr/>
          <p:nvPr/>
        </p:nvSpPr>
        <p:spPr>
          <a:xfrm>
            <a:off x="7942000" y="141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2000" y="191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Cross-Campus Duplicate Detection</a:t>
            </a:r>
          </a:p>
        </p:txBody>
      </p:sp>
      <p:sp>
        <p:nvSpPr>
          <p:cNvPr id="27" name="Oval 26"/>
          <p:cNvSpPr/>
          <p:nvPr/>
        </p:nvSpPr>
        <p:spPr>
          <a:xfrm>
            <a:off x="7942000" y="212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2000" y="262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Zero-Knowledge Public Verification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7942000" y="283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2000" y="333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Cryptographic QR Verification</a:t>
            </a:r>
          </a:p>
        </p:txBody>
      </p:sp>
      <p:sp>
        <p:nvSpPr>
          <p:cNvPr id="31" name="Oval 30"/>
          <p:cNvSpPr/>
          <p:nvPr/>
        </p:nvSpPr>
        <p:spPr>
          <a:xfrm>
            <a:off x="7942000" y="354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2000" y="404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Student Self-Service Vault</a:t>
            </a:r>
          </a:p>
        </p:txBody>
      </p:sp>
      <p:sp>
        <p:nvSpPr>
          <p:cNvPr id="33" name="Oval 32"/>
          <p:cNvSpPr/>
          <p:nvPr/>
        </p:nvSpPr>
        <p:spPr>
          <a:xfrm>
            <a:off x="7942000" y="425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42000" y="475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AI Regulatory Officer Assistant</a:t>
            </a:r>
          </a:p>
        </p:txBody>
      </p:sp>
      <p:sp>
        <p:nvSpPr>
          <p:cNvPr id="35" name="Oval 34"/>
          <p:cNvSpPr/>
          <p:nvPr/>
        </p:nvSpPr>
        <p:spPr>
          <a:xfrm>
            <a:off x="7942000" y="496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2000" y="5460000"/>
            <a:ext cx="3600000" cy="5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Multi-Tenant RBAC Security</a:t>
            </a:r>
          </a:p>
        </p:txBody>
      </p:sp>
      <p:sp>
        <p:nvSpPr>
          <p:cNvPr id="37" name="Oval 36"/>
          <p:cNvSpPr/>
          <p:nvPr/>
        </p:nvSpPr>
        <p:spPr>
          <a:xfrm>
            <a:off x="7942000" y="5670000"/>
            <a:ext cx="160000" cy="160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0000"/>
            <a:ext cx="2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b="1" sz="2400">
                <a:solidFill>
                  <a:srgbClr val="A93226"/>
                </a:solidFill>
                <a:latin typeface="Georgia"/>
              </a:defRPr>
            </a:pPr>
            <a:r>
              <a:t>Byte codx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0000" y="140000"/>
            <a:ext cx="66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102A4D"/>
                </a:solidFill>
                <a:latin typeface="Calibri"/>
              </a:defRPr>
            </a:pPr>
            <a:r>
              <a:t>TECHNICAL APPROACH</a:t>
            </a:r>
          </a:p>
        </p:txBody>
      </p:sp>
      <p:pic>
        <p:nvPicPr>
          <p:cNvPr id="5" name="Picture 4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0" y="80000"/>
            <a:ext cx="1900000" cy="9657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20000"/>
            <a:ext cx="12192000" cy="438000"/>
          </a:xfrm>
          <a:prstGeom prst="rect">
            <a:avLst/>
          </a:prstGeom>
          <a:solidFill>
            <a:srgbClr val="10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0000" y="6440000"/>
            <a:ext cx="3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0000" y="644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000" y="1150000"/>
            <a:ext cx="5100000" cy="505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9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400" u="sng">
                <a:solidFill>
                  <a:srgbClr val="A93226"/>
                </a:solidFill>
                <a:latin typeface="Calibri"/>
              </a:defRPr>
            </a:pPr>
            <a:r>
              <a:t>Web Application (AICTE &amp; Institution Portal)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Frontend: </a:t>
            </a:r>
            <a:r>
              <a:rPr sz="1000">
                <a:solidFill>
                  <a:srgbClr val="212529"/>
                </a:solidFill>
                <a:latin typeface="Calibri"/>
              </a:rPr>
              <a:t>Next.js 16 (React 19) + Tailwind CSS v4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Auth &amp; RBAC: </a:t>
            </a:r>
            <a:r>
              <a:rPr sz="1000">
                <a:solidFill>
                  <a:srgbClr val="212529"/>
                </a:solidFill>
                <a:latin typeface="Calibri"/>
              </a:rPr>
              <a:t>JWT Authentication + Multi-Tenant RBAC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Backend: </a:t>
            </a:r>
            <a:r>
              <a:rPr sz="1000">
                <a:solidFill>
                  <a:srgbClr val="212529"/>
                </a:solidFill>
                <a:latin typeface="Calibri"/>
              </a:rPr>
              <a:t>FastAPI (Python 3.12) + Uvicorn Async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Validation Pipeline: </a:t>
            </a:r>
            <a:r>
              <a:rPr sz="1000">
                <a:solidFill>
                  <a:srgbClr val="212529"/>
                </a:solidFill>
                <a:latin typeface="Calibri"/>
              </a:rPr>
              <a:t>10-Point Rule Engine (Aadhaar/APAAR Checksum, Format, Dual-Enrolment)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Anomaly Engine: </a:t>
            </a:r>
            <a:r>
              <a:rPr sz="1000">
                <a:solidFill>
                  <a:srgbClr val="212529"/>
                </a:solidFill>
                <a:latin typeface="Calibri"/>
              </a:rPr>
              <a:t>Scikit-Learn Anomaly Detection &amp; Over-Enrolment Monitoring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Database: </a:t>
            </a:r>
            <a:r>
              <a:rPr sz="1000">
                <a:solidFill>
                  <a:srgbClr val="212529"/>
                </a:solidFill>
                <a:latin typeface="Calibri"/>
              </a:rPr>
              <a:t>PostgreSQL / SQLite + SQLAlchemy ORM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93226"/>
                </a:solidFill>
                <a:latin typeface="Calibri"/>
              </a:rPr>
              <a:t>Reporting &amp; Export: </a:t>
            </a:r>
            <a:r>
              <a:rPr sz="1000">
                <a:solidFill>
                  <a:srgbClr val="2980B9"/>
                </a:solidFill>
                <a:latin typeface="Calibri"/>
              </a:rPr>
              <a:t>CSV/XLSX Ingestion + Recharts Analytics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Security: </a:t>
            </a:r>
            <a:r>
              <a:rPr sz="1000">
                <a:solidFill>
                  <a:srgbClr val="212529"/>
                </a:solidFill>
                <a:latin typeface="Calibri"/>
              </a:rPr>
              <a:t>SHA-256 Cryptographic Seals, Masked APAAR IDs, Zero-Knowledge Proofs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93226"/>
                </a:solidFill>
                <a:latin typeface="Calibri"/>
              </a:rPr>
              <a:t>YouTube Demo: </a:t>
            </a:r>
            <a:r>
              <a:rPr sz="1000" u="sng">
                <a:solidFill>
                  <a:srgbClr val="0066CC"/>
                </a:solidFill>
                <a:latin typeface="Calibri"/>
                <a:hlinkClick r:id="rId3"/>
              </a:rPr>
              <a:t>https://youtu.be/rEz9BszbQnQ?si=c1oF4zL5QWqgU2EB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93226"/>
                </a:solidFill>
                <a:latin typeface="Calibri"/>
              </a:rPr>
              <a:t>GitHub Repo: </a:t>
            </a:r>
            <a:r>
              <a:rPr sz="1000" u="sng">
                <a:solidFill>
                  <a:srgbClr val="0066CC"/>
                </a:solidFill>
                <a:latin typeface="Calibri"/>
                <a:hlinkClick r:id="rId4"/>
              </a:rPr>
              <a:t>https://github.com/SDP-001/SIH.git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0" y="1150000"/>
            <a:ext cx="5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102A4D"/>
                </a:solidFill>
                <a:latin typeface="Calibri"/>
              </a:defRPr>
            </a:pPr>
            <a:r>
              <a:t>PROTOTYPE SCREENSHOT</a:t>
            </a:r>
          </a:p>
        </p:txBody>
      </p:sp>
      <p:pic>
        <p:nvPicPr>
          <p:cNvPr id="11" name="Picture 10" descr="prototype_dashboard_screen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000" y="1650000"/>
            <a:ext cx="5600000" cy="40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00000" y="5750000"/>
            <a:ext cx="5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02A4D"/>
                </a:solidFill>
                <a:latin typeface="Calibri"/>
              </a:defRPr>
            </a:pPr>
            <a:r>
              <a:t>AICTE Regulatory Command Centre &amp; Student Verification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0000"/>
            <a:ext cx="2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b="1" sz="2400">
                <a:solidFill>
                  <a:srgbClr val="A93226"/>
                </a:solidFill>
                <a:latin typeface="Georgia"/>
              </a:defRPr>
            </a:pPr>
            <a:r>
              <a:t>Byte codx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0000" y="140000"/>
            <a:ext cx="66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102A4D"/>
                </a:solidFill>
                <a:latin typeface="Calibri"/>
              </a:defRPr>
            </a:pPr>
            <a:r>
              <a:t>TECHNICAL APPROACH</a:t>
            </a:r>
          </a:p>
        </p:txBody>
      </p:sp>
      <p:pic>
        <p:nvPicPr>
          <p:cNvPr id="5" name="Picture 4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0" y="80000"/>
            <a:ext cx="1900000" cy="9657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20000"/>
            <a:ext cx="12192000" cy="438000"/>
          </a:xfrm>
          <a:prstGeom prst="rect">
            <a:avLst/>
          </a:prstGeom>
          <a:solidFill>
            <a:srgbClr val="10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0000" y="6440000"/>
            <a:ext cx="3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0000" y="644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000" y="1150000"/>
            <a:ext cx="5100000" cy="505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9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400" u="sng">
                <a:solidFill>
                  <a:srgbClr val="A93226"/>
                </a:solidFill>
                <a:latin typeface="Calibri"/>
              </a:defRPr>
            </a:pPr>
            <a:r>
              <a:t>Student Credential &amp; Public Verification Engine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Architecture: </a:t>
            </a:r>
            <a:r>
              <a:rPr sz="1000">
                <a:solidFill>
                  <a:srgbClr val="212529"/>
                </a:solidFill>
                <a:latin typeface="Calibri"/>
              </a:rPr>
              <a:t>Mobile-Responsive Progressive Web App (PWA)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Student Vault: </a:t>
            </a:r>
            <a:r>
              <a:rPr sz="1000">
                <a:solidFill>
                  <a:srgbClr val="212529"/>
                </a:solidFill>
                <a:latin typeface="Calibri"/>
              </a:rPr>
              <a:t>Self-Service Digital APAAR ID &amp; Credential Status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QR Technology: </a:t>
            </a:r>
            <a:r>
              <a:rPr sz="1000">
                <a:solidFill>
                  <a:srgbClr val="212529"/>
                </a:solidFill>
                <a:latin typeface="Calibri"/>
              </a:rPr>
              <a:t>High-Density Cryptographic QR Code Generator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Verification Mechanism: </a:t>
            </a:r>
            <a:r>
              <a:rPr sz="1000">
                <a:solidFill>
                  <a:srgbClr val="212529"/>
                </a:solidFill>
                <a:latin typeface="Calibri"/>
              </a:rPr>
              <a:t>Instant camera/scanner lookup with Zero PII leakage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Tamper-Evident Seal: </a:t>
            </a:r>
            <a:r>
              <a:rPr sz="1000">
                <a:solidFill>
                  <a:srgbClr val="212529"/>
                </a:solidFill>
                <a:latin typeface="Calibri"/>
              </a:rPr>
              <a:t>SHA-256 Ledger Verification against AICTE Database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AI Regulatory Assistant: </a:t>
            </a:r>
            <a:r>
              <a:rPr sz="1000">
                <a:solidFill>
                  <a:srgbClr val="212529"/>
                </a:solidFill>
                <a:latin typeface="Calibri"/>
              </a:rPr>
              <a:t>Conversational NLP for AICTE Officers &amp; Audits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Dual REST Adapters: </a:t>
            </a:r>
            <a:r>
              <a:rPr sz="1000">
                <a:solidFill>
                  <a:srgbClr val="212529"/>
                </a:solidFill>
                <a:latin typeface="Calibri"/>
              </a:rPr>
              <a:t>Pluggable Mock Sandbox + Production APAAR/ABC API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02A4D"/>
                </a:solidFill>
                <a:latin typeface="Calibri"/>
              </a:rPr>
              <a:t>Offline Fallback: </a:t>
            </a:r>
            <a:r>
              <a:rPr sz="1000">
                <a:solidFill>
                  <a:srgbClr val="212529"/>
                </a:solidFill>
                <a:latin typeface="Calibri"/>
              </a:rPr>
              <a:t>Cached cryptographic proofs for low-connectivity regions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93226"/>
                </a:solidFill>
                <a:latin typeface="Calibri"/>
              </a:rPr>
              <a:t>YouTube Demo: </a:t>
            </a:r>
            <a:r>
              <a:rPr sz="1000" u="sng">
                <a:solidFill>
                  <a:srgbClr val="0066CC"/>
                </a:solidFill>
                <a:latin typeface="Calibri"/>
                <a:hlinkClick r:id="rId3"/>
              </a:rPr>
              <a:t>https://youtu.be/rEz9BszbQnQ?si=c1oF4zL5QWqgU2EB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A93226"/>
                </a:solidFill>
                <a:latin typeface="Calibri"/>
              </a:rPr>
              <a:t>GitHub Repo: </a:t>
            </a:r>
            <a:r>
              <a:rPr sz="1000" u="sng">
                <a:solidFill>
                  <a:srgbClr val="0066CC"/>
                </a:solidFill>
                <a:latin typeface="Calibri"/>
                <a:hlinkClick r:id="rId4"/>
              </a:rPr>
              <a:t>https://github.com/SDP-001/SIH.git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0" y="1150000"/>
            <a:ext cx="5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102A4D"/>
                </a:solidFill>
                <a:latin typeface="Calibri"/>
              </a:defRPr>
            </a:pPr>
            <a:r>
              <a:t>PROTOTYPE SCREENSHOT</a:t>
            </a:r>
          </a:p>
        </p:txBody>
      </p:sp>
      <p:pic>
        <p:nvPicPr>
          <p:cNvPr id="11" name="Picture 10" descr="prototype_mobile_verification_screen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000" y="1650000"/>
            <a:ext cx="5600000" cy="40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00000" y="5750000"/>
            <a:ext cx="5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02A4D"/>
                </a:solidFill>
                <a:latin typeface="Calibri"/>
              </a:defRPr>
            </a:pPr>
            <a:r>
              <a:t>Student Digital Academic Identity &amp; Zero-Knowledge QR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0000"/>
            <a:ext cx="2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b="1" sz="2400">
                <a:solidFill>
                  <a:srgbClr val="A93226"/>
                </a:solidFill>
                <a:latin typeface="Georgia"/>
              </a:defRPr>
            </a:pPr>
            <a:r>
              <a:t>Byte codx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0000" y="140000"/>
            <a:ext cx="66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102A4D"/>
                </a:solidFill>
                <a:latin typeface="Calibri"/>
              </a:defRPr>
            </a:pPr>
            <a:r>
              <a:t>FEASIBILITY AND VIABILITY</a:t>
            </a:r>
          </a:p>
        </p:txBody>
      </p:sp>
      <p:pic>
        <p:nvPicPr>
          <p:cNvPr id="5" name="Picture 4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0" y="80000"/>
            <a:ext cx="1900000" cy="9657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20000"/>
            <a:ext cx="12192000" cy="438000"/>
          </a:xfrm>
          <a:prstGeom prst="rect">
            <a:avLst/>
          </a:prstGeom>
          <a:solidFill>
            <a:srgbClr val="10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0000" y="6440000"/>
            <a:ext cx="3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0000" y="644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000" y="1150000"/>
            <a:ext cx="5100000" cy="155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55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50">
                <a:solidFill>
                  <a:srgbClr val="E55039"/>
                </a:solidFill>
                <a:latin typeface="Calibri"/>
              </a:defRPr>
            </a:pPr>
            <a:r>
              <a:t>Feasibility Analysis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Prototype Ready Stack: </a:t>
            </a:r>
            <a:r>
              <a:rPr sz="950">
                <a:solidFill>
                  <a:srgbClr val="212529"/>
                </a:solidFill>
                <a:latin typeface="Calibri"/>
              </a:rPr>
              <a:t>Next.js 16 + FastAPI (Python 3.12) + PostgreSQL/SQLite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Core AICTE Features: </a:t>
            </a:r>
            <a:r>
              <a:rPr sz="950">
                <a:solidFill>
                  <a:srgbClr val="212529"/>
                </a:solidFill>
                <a:latin typeface="Calibri"/>
              </a:rPr>
              <a:t>Intake quota monitoring, 10-point rule engine, multi-tenant RBAC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Scalable Deployment: </a:t>
            </a:r>
            <a:r>
              <a:rPr sz="950">
                <a:solidFill>
                  <a:srgbClr val="212529"/>
                </a:solidFill>
                <a:latin typeface="Calibri"/>
              </a:rPr>
              <a:t>Containerized Docker microservices for low-cost nationwide university rollout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000" y="2840000"/>
            <a:ext cx="5100000" cy="15500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50">
                <a:solidFill>
                  <a:srgbClr val="F39C12"/>
                </a:solidFill>
                <a:latin typeface="Calibri"/>
              </a:defRPr>
            </a:pPr>
            <a:r>
              <a:t>Challenges &amp; Risks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Incomplete Records: </a:t>
            </a:r>
            <a:r>
              <a:rPr sz="950">
                <a:solidFill>
                  <a:srgbClr val="212529"/>
                </a:solidFill>
                <a:latin typeface="Calibri"/>
              </a:rPr>
              <a:t>Institutions uploading legacy dirty data with missing roll numbers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Dual Enrolments: </a:t>
            </a:r>
            <a:r>
              <a:rPr sz="950">
                <a:solidFill>
                  <a:srgbClr val="212529"/>
                </a:solidFill>
                <a:latin typeface="Calibri"/>
              </a:rPr>
              <a:t>Concurrent admissions claiming duplicate technical seats &amp; scholarships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API Latency / Outage: </a:t>
            </a:r>
            <a:r>
              <a:rPr sz="950">
                <a:solidFill>
                  <a:srgbClr val="212529"/>
                </a:solidFill>
                <a:latin typeface="Calibri"/>
              </a:rPr>
              <a:t>Rate limits or temporary downtime on third-party verification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0000" y="4530000"/>
            <a:ext cx="5100000" cy="155000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50">
                <a:solidFill>
                  <a:srgbClr val="2980B9"/>
                </a:solidFill>
                <a:latin typeface="Calibri"/>
              </a:defRPr>
            </a:pPr>
            <a:r>
              <a:t>Mitigation Strategies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Automated Pre-Checks: </a:t>
            </a:r>
            <a:r>
              <a:rPr sz="950">
                <a:solidFill>
                  <a:srgbClr val="212529"/>
                </a:solidFill>
                <a:latin typeface="Calibri"/>
              </a:rPr>
              <a:t>Immediate schema validation with human-in-the-loop correction desk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Fuzzy / Exact Detector: </a:t>
            </a:r>
            <a:r>
              <a:rPr sz="950">
                <a:solidFill>
                  <a:srgbClr val="212529"/>
                </a:solidFill>
                <a:latin typeface="Calibri"/>
              </a:rPr>
              <a:t>Cross-campus duplicate identification with immutable audit logs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2A4D"/>
                </a:solidFill>
                <a:latin typeface="Calibri"/>
              </a:rPr>
              <a:t>• Simulation Sandbox: </a:t>
            </a:r>
            <a:r>
              <a:rPr sz="950">
                <a:solidFill>
                  <a:srgbClr val="212529"/>
                </a:solidFill>
                <a:latin typeface="Calibri"/>
              </a:rPr>
              <a:t>Pluggable offline adapter enables seamless testing without external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0" y="1150000"/>
            <a:ext cx="5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102A4D"/>
                </a:solidFill>
                <a:latin typeface="Calibri"/>
              </a:defRPr>
            </a:pPr>
            <a:r>
              <a:t>PROTOTYPE SCREENSHOT</a:t>
            </a:r>
          </a:p>
        </p:txBody>
      </p:sp>
      <p:pic>
        <p:nvPicPr>
          <p:cNvPr id="13" name="Picture 12" descr="prototype_audit_security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1650000"/>
            <a:ext cx="5600000" cy="40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00000" y="5750000"/>
            <a:ext cx="56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02A4D"/>
                </a:solidFill>
                <a:latin typeface="Calibri"/>
              </a:defRPr>
            </a:pPr>
            <a:r>
              <a:t>Tamper-Evident SHA-256 Audit Ledger &amp; Dispute Correction Desk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0000"/>
            <a:ext cx="2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b="1" sz="2400">
                <a:solidFill>
                  <a:srgbClr val="A93226"/>
                </a:solidFill>
                <a:latin typeface="Georgia"/>
              </a:defRPr>
            </a:pPr>
            <a:r>
              <a:t>Byte codx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0000" y="140000"/>
            <a:ext cx="66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102A4D"/>
                </a:solidFill>
                <a:latin typeface="Calibri"/>
              </a:defRPr>
            </a:pPr>
            <a:r>
              <a:t>IMPACT AND BENEFITS</a:t>
            </a:r>
          </a:p>
        </p:txBody>
      </p:sp>
      <p:pic>
        <p:nvPicPr>
          <p:cNvPr id="5" name="Picture 4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0" y="80000"/>
            <a:ext cx="1900000" cy="9657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20000"/>
            <a:ext cx="12192000" cy="438000"/>
          </a:xfrm>
          <a:prstGeom prst="rect">
            <a:avLst/>
          </a:prstGeom>
          <a:solidFill>
            <a:srgbClr val="10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0000" y="6440000"/>
            <a:ext cx="3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0000" y="6440000"/>
            <a:ext cx="6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000" y="1150000"/>
            <a:ext cx="5100000" cy="82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1210000"/>
            <a:ext cx="6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E651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1210000"/>
            <a:ext cx="4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50">
                <a:solidFill>
                  <a:srgbClr val="102A4D"/>
                </a:solidFill>
                <a:latin typeface="Calibri"/>
              </a:defRPr>
            </a:pPr>
            <a:r>
              <a:t>Regulatory Integrity (AICTE)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Real-time quota monitoring eliminates unauthorized seat over-allocation and ghost seats.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000" y="2050000"/>
            <a:ext cx="5100000" cy="82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2110000"/>
            <a:ext cx="6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E651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2110000"/>
            <a:ext cx="4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50">
                <a:solidFill>
                  <a:srgbClr val="102A4D"/>
                </a:solidFill>
                <a:latin typeface="Calibri"/>
              </a:defRPr>
            </a:pPr>
            <a:r>
              <a:t>Fraud &amp; Duplicate Prevention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Cross-campus checks prevent concurrent admissions and duplicate scholarship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000" y="2950000"/>
            <a:ext cx="5100000" cy="82000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" y="3010000"/>
            <a:ext cx="6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2980B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0000" y="3010000"/>
            <a:ext cx="4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50">
                <a:solidFill>
                  <a:srgbClr val="102A4D"/>
                </a:solidFill>
                <a:latin typeface="Calibri"/>
              </a:defRPr>
            </a:pPr>
            <a:r>
              <a:t>Transparency &amp; Trust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Cryptographic zero-knowledge verification prevents credential tampering &amp; fake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" y="3850000"/>
            <a:ext cx="5100000" cy="82000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" y="3910000"/>
            <a:ext cx="6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2980B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0000" y="3910000"/>
            <a:ext cx="4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50">
                <a:solidFill>
                  <a:srgbClr val="102A4D"/>
                </a:solidFill>
                <a:latin typeface="Calibri"/>
              </a:defRPr>
            </a:pPr>
            <a:r>
              <a:t>Operational Efficiency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Automated 10-point rule engine reduces manual inspection workload and backlogs by 80%.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0000" y="4750000"/>
            <a:ext cx="5100000" cy="82000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" y="4810000"/>
            <a:ext cx="6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2980B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4810000"/>
            <a:ext cx="4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150">
                <a:solidFill>
                  <a:srgbClr val="102A4D"/>
                </a:solidFill>
                <a:latin typeface="Calibri"/>
              </a:defRPr>
            </a:pPr>
            <a:r>
              <a:t>Scalable for Future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Privacy-by-design architecture adheres to DPDP Act 2023 for nationwide university rollout.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000" y="1150000"/>
            <a:ext cx="5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102A4D"/>
                </a:solidFill>
                <a:latin typeface="Calibri"/>
              </a:defRPr>
            </a:pPr>
            <a:r>
              <a:t>PROTOTYPE SCREENSHOT</a:t>
            </a:r>
          </a:p>
        </p:txBody>
      </p:sp>
      <p:pic>
        <p:nvPicPr>
          <p:cNvPr id="25" name="Picture 24" descr="prototype_impact_analytics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1650000"/>
            <a:ext cx="5600000" cy="370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00000" y="5400000"/>
            <a:ext cx="56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02A4D"/>
                </a:solidFill>
                <a:latin typeface="Calibri"/>
              </a:defRPr>
            </a:pPr>
            <a:r>
              <a:t>AICTE National Impact Analytics &amp; Quota Compliance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0000" y="5780000"/>
            <a:ext cx="11050000" cy="85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100">
                <a:solidFill>
                  <a:srgbClr val="A93226"/>
                </a:solidFill>
                <a:latin typeface="Calibri"/>
              </a:rPr>
              <a:t>▶ YouTube Prototype Video: </a:t>
            </a:r>
            <a:r>
              <a:rPr b="1" sz="1100" u="sng">
                <a:solidFill>
                  <a:srgbClr val="0066CC"/>
                </a:solidFill>
                <a:latin typeface="Calibri"/>
                <a:hlinkClick r:id="rId4"/>
              </a:rPr>
              <a:t>https://youtu.be/rEz9BszbQnQ?si=c1oF4zL5QWqgU2EB</a:t>
            </a:r>
          </a:p>
          <a:p>
            <a:pPr algn="ctr"/>
            <a:r>
              <a:rPr b="1" sz="1100">
                <a:solidFill>
                  <a:srgbClr val="102A4D"/>
                </a:solidFill>
                <a:latin typeface="Calibri"/>
              </a:rPr>
              <a:t>▶ GitHub Source Repository: </a:t>
            </a:r>
            <a:r>
              <a:rPr b="1" sz="1100" u="sng">
                <a:solidFill>
                  <a:srgbClr val="0066CC"/>
                </a:solidFill>
                <a:latin typeface="Calibri"/>
                <a:hlinkClick r:id="rId5"/>
              </a:rPr>
              <a:t>https://github.com/SDP-001/SIH.git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